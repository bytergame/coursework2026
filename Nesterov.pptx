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Bold" charset="1" panose="020B0704020202020204"/>
      <p:regular r:id="rId15"/>
    </p:embeddedFont>
    <p:embeddedFont>
      <p:font typeface="Arial Italics" charset="1" panose="020B0604020202090204"/>
      <p:regular r:id="rId16"/>
    </p:embeddedFont>
    <p:embeddedFont>
      <p:font typeface="Arial" charset="1" panose="020B0604020202020204"/>
      <p:regular r:id="rId17"/>
    </p:embeddedFont>
    <p:embeddedFont>
      <p:font typeface="Montserrat Bold" charset="1" panose="00000800000000000000"/>
      <p:regular r:id="rId18"/>
    </p:embeddedFont>
    <p:embeddedFont>
      <p:font typeface="CAT Neuzeit" charset="1" panose="00000000000000000000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200900" y="-800100"/>
            <a:ext cx="3886200" cy="18288000"/>
            <a:chOff x="0" y="0"/>
            <a:chExt cx="51816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6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4384000"/>
                  </a:lnTo>
                  <a:lnTo>
                    <a:pt x="0" y="24384000"/>
                  </a:lnTo>
                  <a:close/>
                </a:path>
              </a:pathLst>
            </a:custGeom>
            <a:solidFill>
              <a:srgbClr val="023A8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98118" y="7112041"/>
            <a:ext cx="12793161" cy="135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CV, видеосигнал, фильтрация и потоковая rPPG-демонстрация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66416" y="0"/>
            <a:ext cx="9621584" cy="6400800"/>
            <a:chOff x="0" y="0"/>
            <a:chExt cx="12828778" cy="853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8778" cy="8534400"/>
            </a:xfrm>
            <a:custGeom>
              <a:avLst/>
              <a:gdLst/>
              <a:ahLst/>
              <a:cxnLst/>
              <a:rect r="r" b="b" t="t" l="l"/>
              <a:pathLst>
                <a:path h="8534400" w="12828778">
                  <a:moveTo>
                    <a:pt x="0" y="0"/>
                  </a:moveTo>
                  <a:lnTo>
                    <a:pt x="12828778" y="0"/>
                  </a:lnTo>
                  <a:lnTo>
                    <a:pt x="12828778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435" t="-9872" r="-79538" b="-7612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431900" y="8137103"/>
            <a:ext cx="1768640" cy="1098204"/>
            <a:chOff x="0" y="0"/>
            <a:chExt cx="2358187" cy="1464272"/>
          </a:xfrm>
        </p:grpSpPr>
        <p:sp>
          <p:nvSpPr>
            <p:cNvPr name="Freeform 8" id="8" descr="C:\Users\Софья\Desktop\Приоритет 2030\ru.png"/>
            <p:cNvSpPr/>
            <p:nvPr/>
          </p:nvSpPr>
          <p:spPr>
            <a:xfrm flipH="false" flipV="false" rot="0">
              <a:off x="0" y="0"/>
              <a:ext cx="2358136" cy="1464310"/>
            </a:xfrm>
            <a:custGeom>
              <a:avLst/>
              <a:gdLst/>
              <a:ahLst/>
              <a:cxnLst/>
              <a:rect r="r" b="b" t="t" l="l"/>
              <a:pathLst>
                <a:path h="1464310" w="2358136">
                  <a:moveTo>
                    <a:pt x="0" y="0"/>
                  </a:moveTo>
                  <a:lnTo>
                    <a:pt x="2358136" y="0"/>
                  </a:lnTo>
                  <a:lnTo>
                    <a:pt x="2358136" y="1464310"/>
                  </a:lnTo>
                  <a:lnTo>
                    <a:pt x="0" y="146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4" b="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98118" y="8882491"/>
            <a:ext cx="7714650" cy="48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Студент: Нестеров И.С. Б9123-01.03.02сп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118" y="944451"/>
            <a:ext cx="6582861" cy="494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Разработка программного комплекса для оптического измерения       пульса.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8118" y="9345044"/>
            <a:ext cx="97277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Научный руководитель</a:t>
            </a:r>
            <a:r>
              <a:rPr lang="en-US" sz="27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: Боровик Алексей Игоревич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04949" y="9721710"/>
            <a:ext cx="463848" cy="565290"/>
            <a:chOff x="0" y="0"/>
            <a:chExt cx="618465" cy="753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466" cy="753716"/>
            </a:xfrm>
            <a:custGeom>
              <a:avLst/>
              <a:gdLst/>
              <a:ahLst/>
              <a:cxnLst/>
              <a:rect r="r" b="b" t="t" l="l"/>
              <a:pathLst>
                <a:path h="753716" w="618466">
                  <a:moveTo>
                    <a:pt x="0" y="0"/>
                  </a:moveTo>
                  <a:lnTo>
                    <a:pt x="618466" y="0"/>
                  </a:lnTo>
                  <a:lnTo>
                    <a:pt x="618466" y="753716"/>
                  </a:lnTo>
                  <a:lnTo>
                    <a:pt x="0" y="7537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6362" t="0" r="-10636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18465" cy="772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789058"/>
            <a:ext cx="1741254" cy="751568"/>
            <a:chOff x="0" y="0"/>
            <a:chExt cx="458602" cy="197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602" cy="197944"/>
            </a:xfrm>
            <a:custGeom>
              <a:avLst/>
              <a:gdLst/>
              <a:ahLst/>
              <a:cxnLst/>
              <a:rect r="r" b="b" t="t" l="l"/>
              <a:pathLst>
                <a:path h="197944" w="458602">
                  <a:moveTo>
                    <a:pt x="0" y="0"/>
                  </a:moveTo>
                  <a:lnTo>
                    <a:pt x="458602" y="0"/>
                  </a:lnTo>
                  <a:lnTo>
                    <a:pt x="458602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58602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ВИДЕО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42703" y="2789058"/>
            <a:ext cx="2045042" cy="751568"/>
            <a:chOff x="0" y="0"/>
            <a:chExt cx="538612" cy="1979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8612" cy="197944"/>
            </a:xfrm>
            <a:custGeom>
              <a:avLst/>
              <a:gdLst/>
              <a:ahLst/>
              <a:cxnLst/>
              <a:rect r="r" b="b" t="t" l="l"/>
              <a:pathLst>
                <a:path h="197944" w="538612">
                  <a:moveTo>
                    <a:pt x="0" y="0"/>
                  </a:moveTo>
                  <a:lnTo>
                    <a:pt x="538612" y="0"/>
                  </a:lnTo>
                  <a:lnTo>
                    <a:pt x="538612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CFE2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38612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1A7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Выделение лица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2520" y="2789058"/>
            <a:ext cx="2402822" cy="751568"/>
            <a:chOff x="0" y="0"/>
            <a:chExt cx="632842" cy="1979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2842" cy="197944"/>
            </a:xfrm>
            <a:custGeom>
              <a:avLst/>
              <a:gdLst/>
              <a:ahLst/>
              <a:cxnLst/>
              <a:rect r="r" b="b" t="t" l="l"/>
              <a:pathLst>
                <a:path h="197944" w="632842">
                  <a:moveTo>
                    <a:pt x="0" y="0"/>
                  </a:moveTo>
                  <a:lnTo>
                    <a:pt x="632842" y="0"/>
                  </a:lnTo>
                  <a:lnTo>
                    <a:pt x="632842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CFE2F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32842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1A7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Выделение ROI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00117" y="2789058"/>
            <a:ext cx="2402822" cy="751568"/>
            <a:chOff x="0" y="0"/>
            <a:chExt cx="632842" cy="197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2842" cy="197944"/>
            </a:xfrm>
            <a:custGeom>
              <a:avLst/>
              <a:gdLst/>
              <a:ahLst/>
              <a:cxnLst/>
              <a:rect r="r" b="b" t="t" l="l"/>
              <a:pathLst>
                <a:path h="197944" w="632842">
                  <a:moveTo>
                    <a:pt x="0" y="0"/>
                  </a:moveTo>
                  <a:lnTo>
                    <a:pt x="632842" y="0"/>
                  </a:lnTo>
                  <a:lnTo>
                    <a:pt x="632842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CFE2F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32842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1A7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Фильтрация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07715" y="2789058"/>
            <a:ext cx="2587877" cy="751568"/>
            <a:chOff x="0" y="0"/>
            <a:chExt cx="681581" cy="1979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1581" cy="197944"/>
            </a:xfrm>
            <a:custGeom>
              <a:avLst/>
              <a:gdLst/>
              <a:ahLst/>
              <a:cxnLst/>
              <a:rect r="r" b="b" t="t" l="l"/>
              <a:pathLst>
                <a:path h="197944" w="681581">
                  <a:moveTo>
                    <a:pt x="0" y="0"/>
                  </a:moveTo>
                  <a:lnTo>
                    <a:pt x="681581" y="0"/>
                  </a:lnTo>
                  <a:lnTo>
                    <a:pt x="681581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81581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Спектральный анализ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00366" y="2789058"/>
            <a:ext cx="2587877" cy="751568"/>
            <a:chOff x="0" y="0"/>
            <a:chExt cx="681581" cy="197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1581" cy="197944"/>
            </a:xfrm>
            <a:custGeom>
              <a:avLst/>
              <a:gdLst/>
              <a:ahLst/>
              <a:cxnLst/>
              <a:rect r="r" b="b" t="t" l="l"/>
              <a:pathLst>
                <a:path h="197944" w="681581">
                  <a:moveTo>
                    <a:pt x="0" y="0"/>
                  </a:moveTo>
                  <a:lnTo>
                    <a:pt x="681581" y="0"/>
                  </a:lnTo>
                  <a:lnTo>
                    <a:pt x="681581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81581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Частота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393018" y="2789058"/>
            <a:ext cx="3873084" cy="751568"/>
            <a:chOff x="0" y="0"/>
            <a:chExt cx="1020072" cy="1979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0072" cy="197944"/>
            </a:xfrm>
            <a:custGeom>
              <a:avLst/>
              <a:gdLst/>
              <a:ahLst/>
              <a:cxnLst/>
              <a:rect r="r" b="b" t="t" l="l"/>
              <a:pathLst>
                <a:path h="197944" w="1020072">
                  <a:moveTo>
                    <a:pt x="0" y="0"/>
                  </a:moveTo>
                  <a:lnTo>
                    <a:pt x="1020072" y="0"/>
                  </a:lnTo>
                  <a:lnTo>
                    <a:pt x="1020072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20072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Предполагаемый пульс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-199721" b="-131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5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>
            <a:off x="1861753" y="3647387"/>
            <a:ext cx="7060236" cy="212441"/>
          </a:xfrm>
          <a:custGeom>
            <a:avLst/>
            <a:gdLst/>
            <a:ahLst/>
            <a:cxnLst/>
            <a:rect r="r" b="b" t="t" l="l"/>
            <a:pathLst>
              <a:path h="212441" w="7060236">
                <a:moveTo>
                  <a:pt x="0" y="26236"/>
                </a:moveTo>
                <a:lnTo>
                  <a:pt x="0" y="66499"/>
                </a:lnTo>
                <a:cubicBezTo>
                  <a:pt x="0" y="88736"/>
                  <a:pt x="18027" y="106762"/>
                  <a:pt x="40263" y="106762"/>
                </a:cubicBezTo>
                <a:lnTo>
                  <a:pt x="3184703" y="106762"/>
                </a:lnTo>
                <a:cubicBezTo>
                  <a:pt x="3243068" y="106762"/>
                  <a:pt x="3290382" y="154076"/>
                  <a:pt x="3290382" y="212441"/>
                </a:cubicBezTo>
                <a:lnTo>
                  <a:pt x="3290382" y="212441"/>
                </a:lnTo>
                <a:cubicBezTo>
                  <a:pt x="3290382" y="212441"/>
                  <a:pt x="3290382" y="212441"/>
                  <a:pt x="3290382" y="212441"/>
                </a:cubicBezTo>
                <a:lnTo>
                  <a:pt x="3290382" y="212441"/>
                </a:lnTo>
                <a:cubicBezTo>
                  <a:pt x="3290382" y="184413"/>
                  <a:pt x="3301516" y="157533"/>
                  <a:pt x="3321335" y="137715"/>
                </a:cubicBezTo>
                <a:cubicBezTo>
                  <a:pt x="3341154" y="117896"/>
                  <a:pt x="3368034" y="106762"/>
                  <a:pt x="3396062" y="106762"/>
                </a:cubicBezTo>
                <a:lnTo>
                  <a:pt x="7006856" y="106762"/>
                </a:lnTo>
                <a:cubicBezTo>
                  <a:pt x="7021013" y="106762"/>
                  <a:pt x="7034591" y="101138"/>
                  <a:pt x="7044602" y="91127"/>
                </a:cubicBezTo>
                <a:cubicBezTo>
                  <a:pt x="7054613" y="81116"/>
                  <a:pt x="7060237" y="67539"/>
                  <a:pt x="7060237" y="53381"/>
                </a:cubicBezTo>
                <a:lnTo>
                  <a:pt x="7060237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392649" y="5365939"/>
            <a:ext cx="3241165" cy="3241165"/>
          </a:xfrm>
          <a:custGeom>
            <a:avLst/>
            <a:gdLst/>
            <a:ahLst/>
            <a:cxnLst/>
            <a:rect r="r" b="b" t="t" l="l"/>
            <a:pathLst>
              <a:path h="3241165" w="3241165">
                <a:moveTo>
                  <a:pt x="0" y="0"/>
                </a:moveTo>
                <a:lnTo>
                  <a:pt x="3241165" y="0"/>
                </a:lnTo>
                <a:lnTo>
                  <a:pt x="3241165" y="3241165"/>
                </a:lnTo>
                <a:lnTo>
                  <a:pt x="0" y="3241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237746" y="5302278"/>
            <a:ext cx="3368487" cy="3368487"/>
          </a:xfrm>
          <a:custGeom>
            <a:avLst/>
            <a:gdLst/>
            <a:ahLst/>
            <a:cxnLst/>
            <a:rect r="r" b="b" t="t" l="l"/>
            <a:pathLst>
              <a:path h="3368487" w="3368487">
                <a:moveTo>
                  <a:pt x="0" y="0"/>
                </a:moveTo>
                <a:lnTo>
                  <a:pt x="3368487" y="0"/>
                </a:lnTo>
                <a:lnTo>
                  <a:pt x="3368487" y="3368487"/>
                </a:lnTo>
                <a:lnTo>
                  <a:pt x="0" y="33684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651349" y="5429600"/>
            <a:ext cx="4981079" cy="3104405"/>
          </a:xfrm>
          <a:custGeom>
            <a:avLst/>
            <a:gdLst/>
            <a:ahLst/>
            <a:cxnLst/>
            <a:rect r="r" b="b" t="t" l="l"/>
            <a:pathLst>
              <a:path h="3104405" w="4981079">
                <a:moveTo>
                  <a:pt x="0" y="0"/>
                </a:moveTo>
                <a:lnTo>
                  <a:pt x="4981078" y="0"/>
                </a:lnTo>
                <a:lnTo>
                  <a:pt x="4981078" y="3104405"/>
                </a:lnTo>
                <a:lnTo>
                  <a:pt x="0" y="31044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4981034" y="6253274"/>
            <a:ext cx="1864140" cy="1457058"/>
            <a:chOff x="0" y="0"/>
            <a:chExt cx="812800" cy="6353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635304"/>
            </a:xfrm>
            <a:custGeom>
              <a:avLst/>
              <a:gdLst/>
              <a:ahLst/>
              <a:cxnLst/>
              <a:rect r="r" b="b" t="t" l="l"/>
              <a:pathLst>
                <a:path h="635304" w="812800">
                  <a:moveTo>
                    <a:pt x="812800" y="31765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32104"/>
                  </a:lnTo>
                  <a:lnTo>
                    <a:pt x="406400" y="432104"/>
                  </a:lnTo>
                  <a:lnTo>
                    <a:pt x="406400" y="635304"/>
                  </a:lnTo>
                  <a:lnTo>
                    <a:pt x="812800" y="317652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93675"/>
              <a:ext cx="711200" cy="23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92649" y="606462"/>
            <a:ext cx="9040909" cy="88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Пайплайн и моя часть в</a:t>
            </a: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 нем 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101533" y="6253274"/>
            <a:ext cx="1864140" cy="1457058"/>
            <a:chOff x="0" y="0"/>
            <a:chExt cx="812800" cy="635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635304"/>
            </a:xfrm>
            <a:custGeom>
              <a:avLst/>
              <a:gdLst/>
              <a:ahLst/>
              <a:cxnLst/>
              <a:rect r="r" b="b" t="t" l="l"/>
              <a:pathLst>
                <a:path h="635304" w="812800">
                  <a:moveTo>
                    <a:pt x="812800" y="31765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32104"/>
                  </a:lnTo>
                  <a:lnTo>
                    <a:pt x="406400" y="432104"/>
                  </a:lnTo>
                  <a:lnTo>
                    <a:pt x="406400" y="635304"/>
                  </a:lnTo>
                  <a:lnTo>
                    <a:pt x="812800" y="317652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3675"/>
              <a:ext cx="711200" cy="23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937" b="6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7577085" y="9359760"/>
            <a:ext cx="30825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-199721" b="-1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37" b="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35607" y="3391254"/>
            <a:ext cx="5028728" cy="5028728"/>
          </a:xfrm>
          <a:custGeom>
            <a:avLst/>
            <a:gdLst/>
            <a:ahLst/>
            <a:cxnLst/>
            <a:rect r="r" b="b" t="t" l="l"/>
            <a:pathLst>
              <a:path h="5028728" w="5028728">
                <a:moveTo>
                  <a:pt x="0" y="0"/>
                </a:moveTo>
                <a:lnTo>
                  <a:pt x="5028728" y="0"/>
                </a:lnTo>
                <a:lnTo>
                  <a:pt x="5028728" y="5028728"/>
                </a:lnTo>
                <a:lnTo>
                  <a:pt x="0" y="5028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61367" y="3391254"/>
            <a:ext cx="5028728" cy="5028728"/>
          </a:xfrm>
          <a:custGeom>
            <a:avLst/>
            <a:gdLst/>
            <a:ahLst/>
            <a:cxnLst/>
            <a:rect r="r" b="b" t="t" l="l"/>
            <a:pathLst>
              <a:path h="5028728" w="5028728">
                <a:moveTo>
                  <a:pt x="0" y="0"/>
                </a:moveTo>
                <a:lnTo>
                  <a:pt x="5028729" y="0"/>
                </a:lnTo>
                <a:lnTo>
                  <a:pt x="5028729" y="5028728"/>
                </a:lnTo>
                <a:lnTo>
                  <a:pt x="0" y="5028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35607" y="8529262"/>
            <a:ext cx="871010" cy="845671"/>
          </a:xfrm>
          <a:custGeom>
            <a:avLst/>
            <a:gdLst/>
            <a:ahLst/>
            <a:cxnLst/>
            <a:rect r="r" b="b" t="t" l="l"/>
            <a:pathLst>
              <a:path h="845671" w="871010">
                <a:moveTo>
                  <a:pt x="0" y="0"/>
                </a:moveTo>
                <a:lnTo>
                  <a:pt x="871010" y="0"/>
                </a:lnTo>
                <a:lnTo>
                  <a:pt x="871010" y="845672"/>
                </a:lnTo>
                <a:lnTo>
                  <a:pt x="0" y="8456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61367" y="8666576"/>
            <a:ext cx="805185" cy="789082"/>
          </a:xfrm>
          <a:custGeom>
            <a:avLst/>
            <a:gdLst/>
            <a:ahLst/>
            <a:cxnLst/>
            <a:rect r="r" b="b" t="t" l="l"/>
            <a:pathLst>
              <a:path h="789082" w="805185">
                <a:moveTo>
                  <a:pt x="0" y="0"/>
                </a:moveTo>
                <a:lnTo>
                  <a:pt x="805186" y="0"/>
                </a:lnTo>
                <a:lnTo>
                  <a:pt x="805186" y="789082"/>
                </a:lnTo>
                <a:lnTo>
                  <a:pt x="0" y="7890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92649" y="606462"/>
            <a:ext cx="9040909" cy="88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ROI. Что это и как правильно выбрать?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2649" y="2105622"/>
            <a:ext cx="802317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3"/>
              </a:lnSpc>
              <a:spcBef>
                <a:spcPct val="0"/>
              </a:spcBef>
            </a:pPr>
            <a:r>
              <a:rPr lang="en-US" sz="4435">
                <a:solidFill>
                  <a:srgbClr val="001A72"/>
                </a:solidFill>
                <a:latin typeface="Montserrat"/>
                <a:ea typeface="Montserrat"/>
                <a:cs typeface="Montserrat"/>
                <a:sym typeface="Montserrat"/>
              </a:rPr>
              <a:t>ROI – Range Of Interest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65262" y="8754915"/>
            <a:ext cx="3494854" cy="50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303">
                <a:solidFill>
                  <a:srgbClr val="001A72"/>
                </a:solidFill>
                <a:latin typeface="Montserrat"/>
                <a:ea typeface="Montserrat"/>
                <a:cs typeface="Montserrat"/>
                <a:sym typeface="Montserrat"/>
              </a:rPr>
              <a:t>Корректная ROI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66553" y="8809425"/>
            <a:ext cx="4354216" cy="50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303">
                <a:solidFill>
                  <a:srgbClr val="001A72"/>
                </a:solidFill>
                <a:latin typeface="Montserrat"/>
                <a:ea typeface="Montserrat"/>
                <a:cs typeface="Montserrat"/>
                <a:sym typeface="Montserrat"/>
              </a:rPr>
              <a:t>Некорректная ROI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77085" y="9359760"/>
            <a:ext cx="30825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-199721" b="-1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37" b="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554346" y="3652272"/>
            <a:ext cx="5930817" cy="2638711"/>
          </a:xfrm>
          <a:custGeom>
            <a:avLst/>
            <a:gdLst/>
            <a:ahLst/>
            <a:cxnLst/>
            <a:rect r="r" b="b" t="t" l="l"/>
            <a:pathLst>
              <a:path h="2638711" w="5930817">
                <a:moveTo>
                  <a:pt x="0" y="0"/>
                </a:moveTo>
                <a:lnTo>
                  <a:pt x="5930817" y="0"/>
                </a:lnTo>
                <a:lnTo>
                  <a:pt x="5930817" y="2638710"/>
                </a:lnTo>
                <a:lnTo>
                  <a:pt x="0" y="263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649" y="3511353"/>
            <a:ext cx="7818658" cy="5209181"/>
          </a:xfrm>
          <a:custGeom>
            <a:avLst/>
            <a:gdLst/>
            <a:ahLst/>
            <a:cxnLst/>
            <a:rect r="r" b="b" t="t" l="l"/>
            <a:pathLst>
              <a:path h="5209181" w="7818658">
                <a:moveTo>
                  <a:pt x="0" y="0"/>
                </a:moveTo>
                <a:lnTo>
                  <a:pt x="7818658" y="0"/>
                </a:lnTo>
                <a:lnTo>
                  <a:pt x="7818658" y="5209180"/>
                </a:lnTo>
                <a:lnTo>
                  <a:pt x="0" y="5209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92649" y="606462"/>
            <a:ext cx="9040909" cy="88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Усреднение внутри ROI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52781" y="6577849"/>
            <a:ext cx="548712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4">
                <a:solidFill>
                  <a:srgbClr val="001A72"/>
                </a:solidFill>
                <a:latin typeface="Montserrat"/>
                <a:ea typeface="Montserrat"/>
                <a:cs typeface="Montserrat"/>
                <a:sym typeface="Montserrat"/>
              </a:rPr>
              <a:t>S – полезный сигнал</a:t>
            </a:r>
          </a:p>
          <a:p>
            <a:pPr algn="ctr">
              <a:lnSpc>
                <a:spcPts val="3268"/>
              </a:lnSpc>
              <a:spcBef>
                <a:spcPct val="0"/>
              </a:spcBef>
            </a:pPr>
            <a:r>
              <a:rPr lang="en-US" sz="2724">
                <a:solidFill>
                  <a:srgbClr val="001A72"/>
                </a:solidFill>
                <a:latin typeface="Montserrat"/>
                <a:ea typeface="Montserrat"/>
                <a:cs typeface="Montserrat"/>
                <a:sym typeface="Montserrat"/>
              </a:rPr>
              <a:t>n – независимый шум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27722" y="7112522"/>
            <a:ext cx="83358" cy="37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436">
                <a:solidFill>
                  <a:srgbClr val="001A7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59106" y="9359760"/>
            <a:ext cx="34421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-199721" b="-1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37" b="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69918" y="3507323"/>
            <a:ext cx="9741956" cy="3884605"/>
          </a:xfrm>
          <a:custGeom>
            <a:avLst/>
            <a:gdLst/>
            <a:ahLst/>
            <a:cxnLst/>
            <a:rect r="r" b="b" t="t" l="l"/>
            <a:pathLst>
              <a:path h="3884605" w="9741956">
                <a:moveTo>
                  <a:pt x="0" y="0"/>
                </a:moveTo>
                <a:lnTo>
                  <a:pt x="9741957" y="0"/>
                </a:lnTo>
                <a:lnTo>
                  <a:pt x="9741957" y="3884605"/>
                </a:lnTo>
                <a:lnTo>
                  <a:pt x="0" y="3884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12337" y="638370"/>
            <a:ext cx="3762684" cy="4505130"/>
          </a:xfrm>
          <a:custGeom>
            <a:avLst/>
            <a:gdLst/>
            <a:ahLst/>
            <a:cxnLst/>
            <a:rect r="r" b="b" t="t" l="l"/>
            <a:pathLst>
              <a:path h="4505130" w="3762684">
                <a:moveTo>
                  <a:pt x="0" y="0"/>
                </a:moveTo>
                <a:lnTo>
                  <a:pt x="3762685" y="0"/>
                </a:lnTo>
                <a:lnTo>
                  <a:pt x="3762685" y="4505130"/>
                </a:lnTo>
                <a:lnTo>
                  <a:pt x="0" y="4505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12337" y="5449626"/>
            <a:ext cx="3762684" cy="4425627"/>
          </a:xfrm>
          <a:custGeom>
            <a:avLst/>
            <a:gdLst/>
            <a:ahLst/>
            <a:cxnLst/>
            <a:rect r="r" b="b" t="t" l="l"/>
            <a:pathLst>
              <a:path h="4425627" w="3762684">
                <a:moveTo>
                  <a:pt x="0" y="0"/>
                </a:moveTo>
                <a:lnTo>
                  <a:pt x="3762685" y="0"/>
                </a:lnTo>
                <a:lnTo>
                  <a:pt x="3762685" y="4425627"/>
                </a:lnTo>
                <a:lnTo>
                  <a:pt x="0" y="4425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98" r="0" b="-89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92649" y="606462"/>
            <a:ext cx="9040909" cy="88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Сравнение способов выделения ROI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77085" y="9359760"/>
            <a:ext cx="30825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-199721" b="-1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37" b="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86984" y="3719608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92649" y="606462"/>
            <a:ext cx="9040909" cy="88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Как камера превращает свет в RGB-сигнал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2789058"/>
            <a:ext cx="1490720" cy="751568"/>
            <a:chOff x="0" y="0"/>
            <a:chExt cx="392618" cy="197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2618" cy="197944"/>
            </a:xfrm>
            <a:custGeom>
              <a:avLst/>
              <a:gdLst/>
              <a:ahLst/>
              <a:cxnLst/>
              <a:rect r="r" b="b" t="t" l="l"/>
              <a:pathLst>
                <a:path h="197944" w="392618">
                  <a:moveTo>
                    <a:pt x="0" y="0"/>
                  </a:moveTo>
                  <a:lnTo>
                    <a:pt x="392618" y="0"/>
                  </a:lnTo>
                  <a:lnTo>
                    <a:pt x="392618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92618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Свет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4548" y="2789058"/>
            <a:ext cx="2144989" cy="751568"/>
            <a:chOff x="0" y="0"/>
            <a:chExt cx="564935" cy="1979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4935" cy="197944"/>
            </a:xfrm>
            <a:custGeom>
              <a:avLst/>
              <a:gdLst/>
              <a:ahLst/>
              <a:cxnLst/>
              <a:rect r="r" b="b" t="t" l="l"/>
              <a:pathLst>
                <a:path h="197944" w="564935">
                  <a:moveTo>
                    <a:pt x="0" y="0"/>
                  </a:moveTo>
                  <a:lnTo>
                    <a:pt x="564935" y="0"/>
                  </a:lnTo>
                  <a:lnTo>
                    <a:pt x="564935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64935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Фотодиод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05262" y="2789058"/>
            <a:ext cx="2966472" cy="751568"/>
            <a:chOff x="0" y="0"/>
            <a:chExt cx="781293" cy="1979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1293" cy="197944"/>
            </a:xfrm>
            <a:custGeom>
              <a:avLst/>
              <a:gdLst/>
              <a:ahLst/>
              <a:cxnLst/>
              <a:rect r="r" b="b" t="t" l="l"/>
              <a:pathLst>
                <a:path h="197944" w="781293">
                  <a:moveTo>
                    <a:pt x="0" y="0"/>
                  </a:moveTo>
                  <a:lnTo>
                    <a:pt x="781293" y="0"/>
                  </a:lnTo>
                  <a:lnTo>
                    <a:pt x="781293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81293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Накопление заряда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7459" y="2789058"/>
            <a:ext cx="3431327" cy="751568"/>
            <a:chOff x="0" y="0"/>
            <a:chExt cx="903724" cy="1979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3724" cy="197944"/>
            </a:xfrm>
            <a:custGeom>
              <a:avLst/>
              <a:gdLst/>
              <a:ahLst/>
              <a:cxnLst/>
              <a:rect r="r" b="b" t="t" l="l"/>
              <a:pathLst>
                <a:path h="197944" w="903724">
                  <a:moveTo>
                    <a:pt x="0" y="0"/>
                  </a:moveTo>
                  <a:lnTo>
                    <a:pt x="903724" y="0"/>
                  </a:lnTo>
                  <a:lnTo>
                    <a:pt x="903724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03724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Считывание заряда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74510" y="2789058"/>
            <a:ext cx="3051310" cy="751568"/>
            <a:chOff x="0" y="0"/>
            <a:chExt cx="803637" cy="197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3637" cy="197944"/>
            </a:xfrm>
            <a:custGeom>
              <a:avLst/>
              <a:gdLst/>
              <a:ahLst/>
              <a:cxnLst/>
              <a:rect r="r" b="b" t="t" l="l"/>
              <a:pathLst>
                <a:path h="197944" w="803637">
                  <a:moveTo>
                    <a:pt x="0" y="0"/>
                  </a:moveTo>
                  <a:lnTo>
                    <a:pt x="803637" y="0"/>
                  </a:lnTo>
                  <a:lnTo>
                    <a:pt x="803637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03637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Усилитель сигнала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511545" y="2789058"/>
            <a:ext cx="1960581" cy="751568"/>
            <a:chOff x="0" y="0"/>
            <a:chExt cx="516367" cy="1979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6367" cy="197944"/>
            </a:xfrm>
            <a:custGeom>
              <a:avLst/>
              <a:gdLst/>
              <a:ahLst/>
              <a:cxnLst/>
              <a:rect r="r" b="b" t="t" l="l"/>
              <a:pathLst>
                <a:path h="197944" w="516367">
                  <a:moveTo>
                    <a:pt x="0" y="0"/>
                  </a:moveTo>
                  <a:lnTo>
                    <a:pt x="516367" y="0"/>
                  </a:lnTo>
                  <a:lnTo>
                    <a:pt x="516367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6367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АЦП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55542" y="2789058"/>
            <a:ext cx="2732458" cy="751568"/>
            <a:chOff x="0" y="0"/>
            <a:chExt cx="719660" cy="197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9660" cy="197944"/>
            </a:xfrm>
            <a:custGeom>
              <a:avLst/>
              <a:gdLst/>
              <a:ahLst/>
              <a:cxnLst/>
              <a:rect r="r" b="b" t="t" l="l"/>
              <a:pathLst>
                <a:path h="197944" w="719660">
                  <a:moveTo>
                    <a:pt x="0" y="0"/>
                  </a:moveTo>
                  <a:lnTo>
                    <a:pt x="719660" y="0"/>
                  </a:lnTo>
                  <a:lnTo>
                    <a:pt x="719660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00509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19660" cy="20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RGB-сигнал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573275" y="9359760"/>
            <a:ext cx="31587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6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-199721" b="-1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37" b="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991594" y="1054137"/>
            <a:ext cx="6469098" cy="9310384"/>
          </a:xfrm>
          <a:custGeom>
            <a:avLst/>
            <a:gdLst/>
            <a:ahLst/>
            <a:cxnLst/>
            <a:rect r="r" b="b" t="t" l="l"/>
            <a:pathLst>
              <a:path h="9310384" w="6469098">
                <a:moveTo>
                  <a:pt x="0" y="0"/>
                </a:moveTo>
                <a:lnTo>
                  <a:pt x="6469099" y="0"/>
                </a:lnTo>
                <a:lnTo>
                  <a:pt x="6469099" y="9310385"/>
                </a:lnTo>
                <a:lnTo>
                  <a:pt x="0" y="9310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44" r="0" b="-214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92649" y="606462"/>
            <a:ext cx="904090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Шумы камеры в RGB-сигнале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4213" y="2767116"/>
            <a:ext cx="6517306" cy="547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6565" indent="-353282" lvl="1">
              <a:lnSpc>
                <a:spcPts val="3927"/>
              </a:lnSpc>
              <a:buAutoNum type="arabicPeriod" startAt="1"/>
            </a:pPr>
            <a:r>
              <a:rPr lang="en-US" b="true" sz="32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Фотонный шум</a:t>
            </a:r>
          </a:p>
          <a:p>
            <a:pPr algn="just">
              <a:lnSpc>
                <a:spcPts val="3927"/>
              </a:lnSpc>
            </a:pPr>
          </a:p>
          <a:p>
            <a:pPr algn="l" marL="706565" indent="-353282" lvl="1">
              <a:lnSpc>
                <a:spcPts val="3927"/>
              </a:lnSpc>
              <a:buAutoNum type="arabicPeriod" startAt="1"/>
            </a:pPr>
            <a:r>
              <a:rPr lang="en-US" b="true" sz="32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Темный ток</a:t>
            </a:r>
          </a:p>
          <a:p>
            <a:pPr algn="just">
              <a:lnSpc>
                <a:spcPts val="3927"/>
              </a:lnSpc>
            </a:pPr>
          </a:p>
          <a:p>
            <a:pPr algn="l" marL="706565" indent="-353282" lvl="1">
              <a:lnSpc>
                <a:spcPts val="3927"/>
              </a:lnSpc>
              <a:buAutoNum type="arabicPeriod" startAt="1"/>
            </a:pPr>
            <a:r>
              <a:rPr lang="en-US" b="true" sz="32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Длительность выдержки</a:t>
            </a:r>
          </a:p>
          <a:p>
            <a:pPr algn="just">
              <a:lnSpc>
                <a:spcPts val="3927"/>
              </a:lnSpc>
            </a:pPr>
          </a:p>
          <a:p>
            <a:pPr algn="l" marL="706565" indent="-353282" lvl="1">
              <a:lnSpc>
                <a:spcPts val="3927"/>
              </a:lnSpc>
              <a:buAutoNum type="arabicPeriod" startAt="1"/>
            </a:pPr>
            <a:r>
              <a:rPr lang="en-US" b="true" sz="32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Усиление сигнала</a:t>
            </a:r>
          </a:p>
          <a:p>
            <a:pPr algn="just">
              <a:lnSpc>
                <a:spcPts val="3927"/>
              </a:lnSpc>
            </a:pPr>
          </a:p>
          <a:p>
            <a:pPr algn="l" marL="706565" indent="-353282" lvl="1">
              <a:lnSpc>
                <a:spcPts val="3927"/>
              </a:lnSpc>
              <a:buAutoNum type="arabicPeriod" startAt="1"/>
            </a:pPr>
            <a:r>
              <a:rPr lang="en-US" b="true" sz="32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Автоэкспозиция </a:t>
            </a:r>
          </a:p>
          <a:p>
            <a:pPr algn="just">
              <a:lnSpc>
                <a:spcPts val="3927"/>
              </a:lnSpc>
            </a:pPr>
          </a:p>
          <a:p>
            <a:pPr algn="l" marL="706565" indent="-353282" lvl="1">
              <a:lnSpc>
                <a:spcPts val="3927"/>
              </a:lnSpc>
              <a:buAutoNum type="arabicPeriod" startAt="1"/>
            </a:pPr>
            <a:r>
              <a:rPr lang="en-US" b="true" sz="32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Автобаланс  белого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84169" y="9359760"/>
            <a:ext cx="2940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7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-199721" b="-1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937" b="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414102" y="1634203"/>
            <a:ext cx="9423089" cy="977209"/>
          </a:xfrm>
          <a:custGeom>
            <a:avLst/>
            <a:gdLst/>
            <a:ahLst/>
            <a:cxnLst/>
            <a:rect r="r" b="b" t="t" l="l"/>
            <a:pathLst>
              <a:path h="977209" w="9423089">
                <a:moveTo>
                  <a:pt x="0" y="0"/>
                </a:moveTo>
                <a:lnTo>
                  <a:pt x="9423089" y="0"/>
                </a:lnTo>
                <a:lnTo>
                  <a:pt x="9423089" y="977209"/>
                </a:lnTo>
                <a:lnTo>
                  <a:pt x="0" y="97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7302" y="7349993"/>
            <a:ext cx="6565441" cy="1510210"/>
          </a:xfrm>
          <a:custGeom>
            <a:avLst/>
            <a:gdLst/>
            <a:ahLst/>
            <a:cxnLst/>
            <a:rect r="r" b="b" t="t" l="l"/>
            <a:pathLst>
              <a:path h="1510210" w="6565441">
                <a:moveTo>
                  <a:pt x="0" y="0"/>
                </a:moveTo>
                <a:lnTo>
                  <a:pt x="6565440" y="0"/>
                </a:lnTo>
                <a:lnTo>
                  <a:pt x="6565440" y="1510210"/>
                </a:lnTo>
                <a:lnTo>
                  <a:pt x="0" y="1510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4851" y="3440487"/>
            <a:ext cx="8994449" cy="4812030"/>
          </a:xfrm>
          <a:custGeom>
            <a:avLst/>
            <a:gdLst/>
            <a:ahLst/>
            <a:cxnLst/>
            <a:rect r="r" b="b" t="t" l="l"/>
            <a:pathLst>
              <a:path h="4812030" w="8994449">
                <a:moveTo>
                  <a:pt x="0" y="0"/>
                </a:moveTo>
                <a:lnTo>
                  <a:pt x="8994449" y="0"/>
                </a:lnTo>
                <a:lnTo>
                  <a:pt x="8994449" y="4812030"/>
                </a:lnTo>
                <a:lnTo>
                  <a:pt x="0" y="48120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90173" y="3374356"/>
            <a:ext cx="5223752" cy="1627337"/>
          </a:xfrm>
          <a:custGeom>
            <a:avLst/>
            <a:gdLst/>
            <a:ahLst/>
            <a:cxnLst/>
            <a:rect r="r" b="b" t="t" l="l"/>
            <a:pathLst>
              <a:path h="1627337" w="5223752">
                <a:moveTo>
                  <a:pt x="0" y="0"/>
                </a:moveTo>
                <a:lnTo>
                  <a:pt x="5223752" y="0"/>
                </a:lnTo>
                <a:lnTo>
                  <a:pt x="5223752" y="1627337"/>
                </a:lnTo>
                <a:lnTo>
                  <a:pt x="0" y="16273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02828" y="5001693"/>
            <a:ext cx="3834315" cy="706786"/>
          </a:xfrm>
          <a:custGeom>
            <a:avLst/>
            <a:gdLst/>
            <a:ahLst/>
            <a:cxnLst/>
            <a:rect r="r" b="b" t="t" l="l"/>
            <a:pathLst>
              <a:path h="706786" w="3834315">
                <a:moveTo>
                  <a:pt x="0" y="0"/>
                </a:moveTo>
                <a:lnTo>
                  <a:pt x="3834315" y="0"/>
                </a:lnTo>
                <a:lnTo>
                  <a:pt x="3834315" y="706786"/>
                </a:lnTo>
                <a:lnTo>
                  <a:pt x="0" y="7067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90173" y="5824979"/>
            <a:ext cx="5059625" cy="1525014"/>
          </a:xfrm>
          <a:custGeom>
            <a:avLst/>
            <a:gdLst/>
            <a:ahLst/>
            <a:cxnLst/>
            <a:rect r="r" b="b" t="t" l="l"/>
            <a:pathLst>
              <a:path h="1525014" w="5059625">
                <a:moveTo>
                  <a:pt x="0" y="0"/>
                </a:moveTo>
                <a:lnTo>
                  <a:pt x="5059625" y="0"/>
                </a:lnTo>
                <a:lnTo>
                  <a:pt x="5059625" y="1525014"/>
                </a:lnTo>
                <a:lnTo>
                  <a:pt x="0" y="15250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92649" y="606462"/>
            <a:ext cx="904090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Фильтрация сигнала, фильтр Баттерворта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918020"/>
            <a:ext cx="904090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b="true" sz="2572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Промежуточный сигнал до фильтрации: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62678" y="9359760"/>
            <a:ext cx="33706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32427" y="169579"/>
            <a:ext cx="453314" cy="446408"/>
            <a:chOff x="0" y="0"/>
            <a:chExt cx="604418" cy="595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393" cy="595249"/>
            </a:xfrm>
            <a:custGeom>
              <a:avLst/>
              <a:gdLst/>
              <a:ahLst/>
              <a:cxnLst/>
              <a:rect r="r" b="b" t="t" l="l"/>
              <a:pathLst>
                <a:path h="595249" w="604393">
                  <a:moveTo>
                    <a:pt x="0" y="0"/>
                  </a:moveTo>
                  <a:lnTo>
                    <a:pt x="604393" y="0"/>
                  </a:lnTo>
                  <a:lnTo>
                    <a:pt x="604393" y="595249"/>
                  </a:lnTo>
                  <a:lnTo>
                    <a:pt x="0" y="595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37" b="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00913" y="1028700"/>
            <a:ext cx="16318773" cy="9179310"/>
          </a:xfrm>
          <a:custGeom>
            <a:avLst/>
            <a:gdLst/>
            <a:ahLst/>
            <a:cxnLst/>
            <a:rect r="r" b="b" t="t" l="l"/>
            <a:pathLst>
              <a:path h="9179310" w="16318773">
                <a:moveTo>
                  <a:pt x="0" y="0"/>
                </a:moveTo>
                <a:lnTo>
                  <a:pt x="16318773" y="0"/>
                </a:lnTo>
                <a:lnTo>
                  <a:pt x="16318773" y="9179310"/>
                </a:lnTo>
                <a:lnTo>
                  <a:pt x="0" y="9179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92649" y="606462"/>
            <a:ext cx="904090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</a:p>
          <a:p>
            <a:pPr algn="l">
              <a:lnSpc>
                <a:spcPts val="3859"/>
              </a:lnSpc>
            </a:pPr>
            <a:r>
              <a:rPr lang="en-US" b="true" sz="3215">
                <a:solidFill>
                  <a:srgbClr val="023A84"/>
                </a:solidFill>
                <a:latin typeface="Arial Bold"/>
                <a:ea typeface="Arial Bold"/>
                <a:cs typeface="Arial Bold"/>
                <a:sym typeface="Arial Bold"/>
              </a:rPr>
              <a:t>Измерение пульса по потоковому видео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7748" y="864649"/>
            <a:ext cx="769553" cy="769553"/>
            <a:chOff x="0" y="0"/>
            <a:chExt cx="1026071" cy="1026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699BC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9332" y="1004781"/>
            <a:ext cx="266386" cy="489290"/>
            <a:chOff x="0" y="0"/>
            <a:chExt cx="355181" cy="652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219" cy="652399"/>
            </a:xfrm>
            <a:custGeom>
              <a:avLst/>
              <a:gdLst/>
              <a:ahLst/>
              <a:cxnLst/>
              <a:rect r="r" b="b" t="t" l="l"/>
              <a:pathLst>
                <a:path h="652399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652399"/>
                  </a:lnTo>
                  <a:lnTo>
                    <a:pt x="0" y="65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99721" b="-131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573275" y="9359760"/>
            <a:ext cx="31587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  <a:spcBef>
                <a:spcPct val="0"/>
              </a:spcBef>
            </a:pPr>
            <a:r>
              <a:rPr lang="en-US" sz="4639">
                <a:solidFill>
                  <a:srgbClr val="023A84"/>
                </a:solidFill>
                <a:latin typeface="CAT Neuzeit"/>
                <a:ea typeface="CAT Neuzeit"/>
                <a:cs typeface="CAT Neuzeit"/>
                <a:sym typeface="CAT Neuzeit"/>
              </a:rPr>
              <a:t>9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83931" y="9471550"/>
            <a:ext cx="817188" cy="500320"/>
            <a:chOff x="0" y="0"/>
            <a:chExt cx="1089584" cy="6670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9533" cy="667131"/>
            </a:xfrm>
            <a:custGeom>
              <a:avLst/>
              <a:gdLst/>
              <a:ahLst/>
              <a:cxnLst/>
              <a:rect r="r" b="b" t="t" l="l"/>
              <a:pathLst>
                <a:path h="667131" w="1089533">
                  <a:moveTo>
                    <a:pt x="0" y="0"/>
                  </a:moveTo>
                  <a:lnTo>
                    <a:pt x="1089533" y="0"/>
                  </a:lnTo>
                  <a:lnTo>
                    <a:pt x="1089533" y="667131"/>
                  </a:lnTo>
                  <a:lnTo>
                    <a:pt x="0" y="66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DAHKlBz7dvQ</dc:identifier>
  <dcterms:modified xsi:type="dcterms:W3CDTF">2011-08-01T06:04:30Z</dcterms:modified>
  <cp:revision>1</cp:revision>
  <dc:title>Преза на защиту</dc:title>
</cp:coreProperties>
</file>