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Arial Bold" charset="1" panose="020B0704020202020204"/>
      <p:regular r:id="rId21"/>
    </p:embeddedFont>
    <p:embeddedFont>
      <p:font typeface="Arial Italics" charset="1" panose="020B0604020202090204"/>
      <p:regular r:id="rId22"/>
    </p:embeddedFont>
    <p:embeddedFont>
      <p:font typeface="Montserrat Bold" charset="1" panose="00000800000000000000"/>
      <p:regular r:id="rId23"/>
    </p:embeddedFont>
    <p:embeddedFont>
      <p:font typeface="Arial" charset="1" panose="020B0604020202020204"/>
      <p:regular r:id="rId24"/>
    </p:embeddedFont>
    <p:embeddedFont>
      <p:font typeface="Open Sans" charset="1" panose="020B060603050402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png" Type="http://schemas.openxmlformats.org/officeDocument/2006/relationships/image"/><Relationship Id="rId12" Target="../media/image2.png" Type="http://schemas.openxmlformats.org/officeDocument/2006/relationships/image"/><Relationship Id="rId13" Target="../media/image13.png" Type="http://schemas.openxmlformats.org/officeDocument/2006/relationships/image"/><Relationship Id="rId2" Target="../media/image3.jpeg" Type="http://schemas.openxmlformats.org/officeDocument/2006/relationships/imag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0.png" Type="http://schemas.openxmlformats.org/officeDocument/2006/relationships/image"/><Relationship Id="rId5" Target="../media/image2.png" Type="http://schemas.openxmlformats.org/officeDocument/2006/relationships/image"/><Relationship Id="rId6" Target="../media/image1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0.png" Type="http://schemas.openxmlformats.org/officeDocument/2006/relationships/image"/><Relationship Id="rId6" Target="../media/image2.png" Type="http://schemas.openxmlformats.org/officeDocument/2006/relationships/image"/><Relationship Id="rId7" Target="../media/image1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Relationship Id="rId6" Target="../media/image10.png" Type="http://schemas.openxmlformats.org/officeDocument/2006/relationships/image"/><Relationship Id="rId7" Target="../media/image2.png" Type="http://schemas.openxmlformats.org/officeDocument/2006/relationships/image"/><Relationship Id="rId8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Relationship Id="rId5" Target="../media/image26.png" Type="http://schemas.openxmlformats.org/officeDocument/2006/relationships/image"/><Relationship Id="rId6" Target="../media/image10.png" Type="http://schemas.openxmlformats.org/officeDocument/2006/relationships/image"/><Relationship Id="rId7" Target="../media/image2.png" Type="http://schemas.openxmlformats.org/officeDocument/2006/relationships/image"/><Relationship Id="rId8" Target="../media/image27.png" Type="http://schemas.openxmlformats.org/officeDocument/2006/relationships/image"/><Relationship Id="rId9" Target="../media/image1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10.png" Type="http://schemas.openxmlformats.org/officeDocument/2006/relationships/image"/><Relationship Id="rId4" Target="../media/image2.png" Type="http://schemas.openxmlformats.org/officeDocument/2006/relationships/image"/><Relationship Id="rId5" Target="../media/image13.png" Type="http://schemas.openxmlformats.org/officeDocument/2006/relationships/image"/><Relationship Id="rId6" Target="../media/image2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0.png" Type="http://schemas.openxmlformats.org/officeDocument/2006/relationships/image"/><Relationship Id="rId4" Target="../media/image2.pn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Relationship Id="rId7" Target="../media/image3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8.png" Type="http://schemas.openxmlformats.org/officeDocument/2006/relationships/image"/><Relationship Id="rId2" Target="../media/image33.png" Type="http://schemas.openxmlformats.org/officeDocument/2006/relationships/image"/><Relationship Id="rId3" Target="../media/image34.png" Type="http://schemas.openxmlformats.org/officeDocument/2006/relationships/image"/><Relationship Id="rId4" Target="../media/image35.png" Type="http://schemas.openxmlformats.org/officeDocument/2006/relationships/image"/><Relationship Id="rId5" Target="../media/image36.png" Type="http://schemas.openxmlformats.org/officeDocument/2006/relationships/image"/><Relationship Id="rId6" Target="../media/image37.png" Type="http://schemas.openxmlformats.org/officeDocument/2006/relationships/image"/><Relationship Id="rId7" Target="../media/image13.png" Type="http://schemas.openxmlformats.org/officeDocument/2006/relationships/image"/><Relationship Id="rId8" Target="../media/image10.png" Type="http://schemas.openxmlformats.org/officeDocument/2006/relationships/image"/><Relationship Id="rId9" Target="../media/image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0.png" Type="http://schemas.openxmlformats.org/officeDocument/2006/relationships/image"/><Relationship Id="rId4" Target="../media/image2.png" Type="http://schemas.openxmlformats.org/officeDocument/2006/relationships/image"/><Relationship Id="rId5" Target="../media/image39.png" Type="http://schemas.openxmlformats.org/officeDocument/2006/relationships/image"/><Relationship Id="rId6" Target="../media/image40.png" Type="http://schemas.openxmlformats.org/officeDocument/2006/relationships/image"/><Relationship Id="rId7" Target="../media/image4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13.png" Type="http://schemas.openxmlformats.org/officeDocument/2006/relationships/image"/><Relationship Id="rId4" Target="../media/image10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media/image13.png" Type="http://schemas.openxmlformats.org/officeDocument/2006/relationships/image"/><Relationship Id="rId4" Target="../media/image10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13.png" Type="http://schemas.openxmlformats.org/officeDocument/2006/relationships/image"/><Relationship Id="rId4" Target="../media/image10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45.png" Type="http://schemas.openxmlformats.org/officeDocument/2006/relationships/image"/><Relationship Id="rId4" Target="../media/image10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7200900" y="-800100"/>
            <a:ext cx="3886200" cy="18288000"/>
            <a:chOff x="0" y="0"/>
            <a:chExt cx="5181600" cy="2438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181600" cy="24384000"/>
            </a:xfrm>
            <a:custGeom>
              <a:avLst/>
              <a:gdLst/>
              <a:ahLst/>
              <a:cxnLst/>
              <a:rect r="r" b="b" t="t" l="l"/>
              <a:pathLst>
                <a:path h="24384000" w="5181600">
                  <a:moveTo>
                    <a:pt x="0" y="0"/>
                  </a:moveTo>
                  <a:lnTo>
                    <a:pt x="5181600" y="0"/>
                  </a:lnTo>
                  <a:lnTo>
                    <a:pt x="5181600" y="24384000"/>
                  </a:lnTo>
                  <a:lnTo>
                    <a:pt x="0" y="24384000"/>
                  </a:lnTo>
                  <a:close/>
                </a:path>
              </a:pathLst>
            </a:custGeom>
            <a:solidFill>
              <a:srgbClr val="023A8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18" y="7112041"/>
            <a:ext cx="12793161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42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AC/DC, DFT, Алгоритм Кули-Тьюки, Метод Уэлча, Методы GREEN, CHROM, POS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666416" y="0"/>
            <a:ext cx="9621584" cy="6400800"/>
            <a:chOff x="0" y="0"/>
            <a:chExt cx="12828778" cy="8534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828778" cy="8534400"/>
            </a:xfrm>
            <a:custGeom>
              <a:avLst/>
              <a:gdLst/>
              <a:ahLst/>
              <a:cxnLst/>
              <a:rect r="r" b="b" t="t" l="l"/>
              <a:pathLst>
                <a:path h="8534400" w="12828778">
                  <a:moveTo>
                    <a:pt x="0" y="0"/>
                  </a:moveTo>
                  <a:lnTo>
                    <a:pt x="12828778" y="0"/>
                  </a:lnTo>
                  <a:lnTo>
                    <a:pt x="12828778" y="8534400"/>
                  </a:lnTo>
                  <a:lnTo>
                    <a:pt x="0" y="853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0435" t="-9872" r="-79538" b="-7612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431900" y="8137103"/>
            <a:ext cx="1768640" cy="1098204"/>
            <a:chOff x="0" y="0"/>
            <a:chExt cx="2358187" cy="1464272"/>
          </a:xfrm>
        </p:grpSpPr>
        <p:sp>
          <p:nvSpPr>
            <p:cNvPr name="Freeform 8" id="8" descr="C:\Users\Софья\Desktop\Приоритет 2030\ru.png"/>
            <p:cNvSpPr/>
            <p:nvPr/>
          </p:nvSpPr>
          <p:spPr>
            <a:xfrm flipH="false" flipV="false" rot="0">
              <a:off x="0" y="0"/>
              <a:ext cx="2358136" cy="1464310"/>
            </a:xfrm>
            <a:custGeom>
              <a:avLst/>
              <a:gdLst/>
              <a:ahLst/>
              <a:cxnLst/>
              <a:rect r="r" b="b" t="t" l="l"/>
              <a:pathLst>
                <a:path h="1464310" w="2358136">
                  <a:moveTo>
                    <a:pt x="0" y="0"/>
                  </a:moveTo>
                  <a:lnTo>
                    <a:pt x="2358136" y="0"/>
                  </a:lnTo>
                  <a:lnTo>
                    <a:pt x="2358136" y="1464310"/>
                  </a:lnTo>
                  <a:lnTo>
                    <a:pt x="0" y="1464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4" b="2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98118" y="8882491"/>
            <a:ext cx="7714650" cy="481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i="true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Студент: Пырков В.А. Б9123-01.03.02сп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98118" y="944451"/>
            <a:ext cx="6582861" cy="412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023A84"/>
                </a:solidFill>
                <a:latin typeface="Arial Bold"/>
                <a:ea typeface="Arial Bold"/>
                <a:cs typeface="Arial Bold"/>
                <a:sym typeface="Arial Bold"/>
              </a:rPr>
              <a:t>Разработка программного комплекса для оптического измерения пульса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98118" y="9345044"/>
            <a:ext cx="771465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i="true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Руководитель: Боровик А.И.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804949" y="9721710"/>
            <a:ext cx="463848" cy="565290"/>
            <a:chOff x="0" y="0"/>
            <a:chExt cx="618465" cy="753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8490" cy="753745"/>
            </a:xfrm>
            <a:custGeom>
              <a:avLst/>
              <a:gdLst/>
              <a:ahLst/>
              <a:cxnLst/>
              <a:rect r="r" b="b" t="t" l="l"/>
              <a:pathLst>
                <a:path h="753745" w="618490">
                  <a:moveTo>
                    <a:pt x="0" y="0"/>
                  </a:moveTo>
                  <a:lnTo>
                    <a:pt x="618490" y="0"/>
                  </a:lnTo>
                  <a:lnTo>
                    <a:pt x="618490" y="753745"/>
                  </a:lnTo>
                  <a:lnTo>
                    <a:pt x="0" y="7537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06466" t="0" r="-106462" b="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2789053"/>
            <a:ext cx="1741256" cy="751570"/>
            <a:chOff x="0" y="0"/>
            <a:chExt cx="2321674" cy="10020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21687" cy="1002030"/>
            </a:xfrm>
            <a:custGeom>
              <a:avLst/>
              <a:gdLst/>
              <a:ahLst/>
              <a:cxnLst/>
              <a:rect r="r" b="b" t="t" l="l"/>
              <a:pathLst>
                <a:path h="1002030" w="2321687">
                  <a:moveTo>
                    <a:pt x="0" y="0"/>
                  </a:moveTo>
                  <a:lnTo>
                    <a:pt x="2321687" y="0"/>
                  </a:lnTo>
                  <a:lnTo>
                    <a:pt x="2321687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00509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2752896"/>
            <a:ext cx="1741256" cy="787733"/>
            <a:chOff x="0" y="0"/>
            <a:chExt cx="2321674" cy="105031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21672" cy="1050307"/>
            </a:xfrm>
            <a:custGeom>
              <a:avLst/>
              <a:gdLst/>
              <a:ahLst/>
              <a:cxnLst/>
              <a:rect r="r" b="b" t="t" l="l"/>
              <a:pathLst>
                <a:path h="1050307" w="2321672">
                  <a:moveTo>
                    <a:pt x="0" y="0"/>
                  </a:moveTo>
                  <a:lnTo>
                    <a:pt x="2321672" y="0"/>
                  </a:lnTo>
                  <a:lnTo>
                    <a:pt x="2321672" y="1050307"/>
                  </a:lnTo>
                  <a:lnTo>
                    <a:pt x="0" y="10503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43" t="0" r="-8044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321674" cy="10598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Видео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42706" y="2789053"/>
            <a:ext cx="2045046" cy="751570"/>
            <a:chOff x="0" y="0"/>
            <a:chExt cx="2726728" cy="10020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726690" cy="1002030"/>
            </a:xfrm>
            <a:custGeom>
              <a:avLst/>
              <a:gdLst/>
              <a:ahLst/>
              <a:cxnLst/>
              <a:rect r="r" b="b" t="t" l="l"/>
              <a:pathLst>
                <a:path h="1002030" w="2726690">
                  <a:moveTo>
                    <a:pt x="0" y="0"/>
                  </a:moveTo>
                  <a:lnTo>
                    <a:pt x="2726690" y="0"/>
                  </a:lnTo>
                  <a:lnTo>
                    <a:pt x="2726690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CFE2F3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842706" y="2752896"/>
            <a:ext cx="2045046" cy="787737"/>
            <a:chOff x="0" y="0"/>
            <a:chExt cx="2726728" cy="105031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726723" cy="1050311"/>
            </a:xfrm>
            <a:custGeom>
              <a:avLst/>
              <a:gdLst/>
              <a:ahLst/>
              <a:cxnLst/>
              <a:rect r="r" b="b" t="t" l="l"/>
              <a:pathLst>
                <a:path h="1050311" w="2726723">
                  <a:moveTo>
                    <a:pt x="0" y="0"/>
                  </a:moveTo>
                  <a:lnTo>
                    <a:pt x="2726723" y="0"/>
                  </a:lnTo>
                  <a:lnTo>
                    <a:pt x="2726723" y="1050311"/>
                  </a:lnTo>
                  <a:lnTo>
                    <a:pt x="0" y="1050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5" r="0" b="-58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726728" cy="1059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01A72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Выделение лица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992518" y="2789053"/>
            <a:ext cx="2402824" cy="751570"/>
            <a:chOff x="0" y="0"/>
            <a:chExt cx="3203766" cy="100209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203702" cy="1002030"/>
            </a:xfrm>
            <a:custGeom>
              <a:avLst/>
              <a:gdLst/>
              <a:ahLst/>
              <a:cxnLst/>
              <a:rect r="r" b="b" t="t" l="l"/>
              <a:pathLst>
                <a:path h="1002030" w="3203702">
                  <a:moveTo>
                    <a:pt x="0" y="0"/>
                  </a:moveTo>
                  <a:lnTo>
                    <a:pt x="3203702" y="0"/>
                  </a:lnTo>
                  <a:lnTo>
                    <a:pt x="3203702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CFE2F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3992518" y="2752896"/>
            <a:ext cx="2402824" cy="787737"/>
            <a:chOff x="0" y="0"/>
            <a:chExt cx="3203766" cy="10503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203763" cy="1050311"/>
            </a:xfrm>
            <a:custGeom>
              <a:avLst/>
              <a:gdLst/>
              <a:ahLst/>
              <a:cxnLst/>
              <a:rect r="r" b="b" t="t" l="l"/>
              <a:pathLst>
                <a:path h="1050311" w="3203763">
                  <a:moveTo>
                    <a:pt x="0" y="0"/>
                  </a:moveTo>
                  <a:lnTo>
                    <a:pt x="3203763" y="0"/>
                  </a:lnTo>
                  <a:lnTo>
                    <a:pt x="3203763" y="1050311"/>
                  </a:lnTo>
                  <a:lnTo>
                    <a:pt x="0" y="1050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35" r="0" b="-943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3203766" cy="1059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01A72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Выделение ROI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00117" y="2789053"/>
            <a:ext cx="2402824" cy="751570"/>
            <a:chOff x="0" y="0"/>
            <a:chExt cx="3203766" cy="100209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203702" cy="1002030"/>
            </a:xfrm>
            <a:custGeom>
              <a:avLst/>
              <a:gdLst/>
              <a:ahLst/>
              <a:cxnLst/>
              <a:rect r="r" b="b" t="t" l="l"/>
              <a:pathLst>
                <a:path h="1002030" w="3203702">
                  <a:moveTo>
                    <a:pt x="0" y="0"/>
                  </a:moveTo>
                  <a:lnTo>
                    <a:pt x="3203702" y="0"/>
                  </a:lnTo>
                  <a:lnTo>
                    <a:pt x="3203702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CFE2F3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500117" y="2752896"/>
            <a:ext cx="2402824" cy="787737"/>
            <a:chOff x="0" y="0"/>
            <a:chExt cx="3203766" cy="10503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203763" cy="1050311"/>
            </a:xfrm>
            <a:custGeom>
              <a:avLst/>
              <a:gdLst/>
              <a:ahLst/>
              <a:cxnLst/>
              <a:rect r="r" b="b" t="t" l="l"/>
              <a:pathLst>
                <a:path h="1050311" w="3203763">
                  <a:moveTo>
                    <a:pt x="0" y="0"/>
                  </a:moveTo>
                  <a:lnTo>
                    <a:pt x="3203763" y="0"/>
                  </a:lnTo>
                  <a:lnTo>
                    <a:pt x="3203763" y="1050311"/>
                  </a:lnTo>
                  <a:lnTo>
                    <a:pt x="0" y="1050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35" r="0" b="-943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203766" cy="1059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01A72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Фильтрация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007716" y="2789053"/>
            <a:ext cx="2587876" cy="751570"/>
            <a:chOff x="0" y="0"/>
            <a:chExt cx="3450501" cy="10020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450463" cy="1002030"/>
            </a:xfrm>
            <a:custGeom>
              <a:avLst/>
              <a:gdLst/>
              <a:ahLst/>
              <a:cxnLst/>
              <a:rect r="r" b="b" t="t" l="l"/>
              <a:pathLst>
                <a:path h="1002030" w="3450463">
                  <a:moveTo>
                    <a:pt x="0" y="0"/>
                  </a:moveTo>
                  <a:lnTo>
                    <a:pt x="3450463" y="0"/>
                  </a:lnTo>
                  <a:lnTo>
                    <a:pt x="3450463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00509F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007716" y="2752896"/>
            <a:ext cx="2587876" cy="787737"/>
            <a:chOff x="0" y="0"/>
            <a:chExt cx="3450501" cy="105031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50503" cy="1050311"/>
            </a:xfrm>
            <a:custGeom>
              <a:avLst/>
              <a:gdLst/>
              <a:ahLst/>
              <a:cxnLst/>
              <a:rect r="r" b="b" t="t" l="l"/>
              <a:pathLst>
                <a:path h="1050311" w="3450503">
                  <a:moveTo>
                    <a:pt x="0" y="0"/>
                  </a:moveTo>
                  <a:lnTo>
                    <a:pt x="3450503" y="0"/>
                  </a:lnTo>
                  <a:lnTo>
                    <a:pt x="3450503" y="1050311"/>
                  </a:lnTo>
                  <a:lnTo>
                    <a:pt x="0" y="1050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012" r="0" b="-14012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3450501" cy="1059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Спектральный анализ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700367" y="2789053"/>
            <a:ext cx="2587876" cy="751570"/>
            <a:chOff x="0" y="0"/>
            <a:chExt cx="3450501" cy="100209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450463" cy="1002030"/>
            </a:xfrm>
            <a:custGeom>
              <a:avLst/>
              <a:gdLst/>
              <a:ahLst/>
              <a:cxnLst/>
              <a:rect r="r" b="b" t="t" l="l"/>
              <a:pathLst>
                <a:path h="1002030" w="3450463">
                  <a:moveTo>
                    <a:pt x="0" y="0"/>
                  </a:moveTo>
                  <a:lnTo>
                    <a:pt x="3450463" y="0"/>
                  </a:lnTo>
                  <a:lnTo>
                    <a:pt x="3450463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00509F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1700367" y="2752896"/>
            <a:ext cx="2587876" cy="787737"/>
            <a:chOff x="0" y="0"/>
            <a:chExt cx="3450501" cy="105031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450503" cy="1050311"/>
            </a:xfrm>
            <a:custGeom>
              <a:avLst/>
              <a:gdLst/>
              <a:ahLst/>
              <a:cxnLst/>
              <a:rect r="r" b="b" t="t" l="l"/>
              <a:pathLst>
                <a:path h="1050311" w="3450503">
                  <a:moveTo>
                    <a:pt x="0" y="0"/>
                  </a:moveTo>
                  <a:lnTo>
                    <a:pt x="3450503" y="0"/>
                  </a:lnTo>
                  <a:lnTo>
                    <a:pt x="3450503" y="1050311"/>
                  </a:lnTo>
                  <a:lnTo>
                    <a:pt x="0" y="1050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012" r="0" b="-14012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3450501" cy="1059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Частота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393018" y="2789053"/>
            <a:ext cx="3873084" cy="751570"/>
            <a:chOff x="0" y="0"/>
            <a:chExt cx="5164112" cy="100209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164074" cy="1002030"/>
            </a:xfrm>
            <a:custGeom>
              <a:avLst/>
              <a:gdLst/>
              <a:ahLst/>
              <a:cxnLst/>
              <a:rect r="r" b="b" t="t" l="l"/>
              <a:pathLst>
                <a:path h="1002030" w="5164074">
                  <a:moveTo>
                    <a:pt x="0" y="0"/>
                  </a:moveTo>
                  <a:lnTo>
                    <a:pt x="5164074" y="0"/>
                  </a:lnTo>
                  <a:lnTo>
                    <a:pt x="5164074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00509F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4393018" y="2752896"/>
            <a:ext cx="3873084" cy="787737"/>
            <a:chOff x="0" y="0"/>
            <a:chExt cx="5164112" cy="105031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164112" cy="1050311"/>
            </a:xfrm>
            <a:custGeom>
              <a:avLst/>
              <a:gdLst/>
              <a:ahLst/>
              <a:cxnLst/>
              <a:rect r="r" b="b" t="t" l="l"/>
              <a:pathLst>
                <a:path h="1050311" w="5164112">
                  <a:moveTo>
                    <a:pt x="0" y="0"/>
                  </a:moveTo>
                  <a:lnTo>
                    <a:pt x="5164112" y="0"/>
                  </a:lnTo>
                  <a:lnTo>
                    <a:pt x="5164112" y="1050311"/>
                  </a:lnTo>
                  <a:lnTo>
                    <a:pt x="0" y="1050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802" r="0" b="-45803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5164112" cy="1059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Предполагаемый пульс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485818" y="392801"/>
            <a:ext cx="769620" cy="769620"/>
            <a:chOff x="0" y="0"/>
            <a:chExt cx="1026160" cy="102616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sp>
        <p:nvSpPr>
          <p:cNvPr name="Freeform 41" id="41"/>
          <p:cNvSpPr/>
          <p:nvPr/>
        </p:nvSpPr>
        <p:spPr>
          <a:xfrm flipH="false" flipV="false" rot="0">
            <a:off x="9007716" y="3709894"/>
            <a:ext cx="9280284" cy="327561"/>
          </a:xfrm>
          <a:custGeom>
            <a:avLst/>
            <a:gdLst/>
            <a:ahLst/>
            <a:cxnLst/>
            <a:rect r="r" b="b" t="t" l="l"/>
            <a:pathLst>
              <a:path h="327561" w="9280284">
                <a:moveTo>
                  <a:pt x="0" y="0"/>
                </a:moveTo>
                <a:lnTo>
                  <a:pt x="9280284" y="0"/>
                </a:lnTo>
                <a:lnTo>
                  <a:pt x="9280284" y="327561"/>
                </a:lnTo>
                <a:lnTo>
                  <a:pt x="0" y="3275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2" id="42"/>
          <p:cNvGrpSpPr/>
          <p:nvPr/>
        </p:nvGrpSpPr>
        <p:grpSpPr>
          <a:xfrm rot="0">
            <a:off x="198294" y="5320235"/>
            <a:ext cx="4981080" cy="3104407"/>
            <a:chOff x="0" y="0"/>
            <a:chExt cx="6641440" cy="413920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641465" cy="4139184"/>
            </a:xfrm>
            <a:custGeom>
              <a:avLst/>
              <a:gdLst/>
              <a:ahLst/>
              <a:cxnLst/>
              <a:rect r="r" b="b" t="t" l="l"/>
              <a:pathLst>
                <a:path h="4139184" w="6641465">
                  <a:moveTo>
                    <a:pt x="0" y="0"/>
                  </a:moveTo>
                  <a:lnTo>
                    <a:pt x="6641465" y="0"/>
                  </a:lnTo>
                  <a:lnTo>
                    <a:pt x="6641465" y="4139184"/>
                  </a:lnTo>
                  <a:lnTo>
                    <a:pt x="0" y="4139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Freeform 44" id="44"/>
          <p:cNvSpPr/>
          <p:nvPr/>
        </p:nvSpPr>
        <p:spPr>
          <a:xfrm flipH="false" flipV="false" rot="0">
            <a:off x="4635979" y="6271230"/>
            <a:ext cx="1864138" cy="1457058"/>
          </a:xfrm>
          <a:custGeom>
            <a:avLst/>
            <a:gdLst/>
            <a:ahLst/>
            <a:cxnLst/>
            <a:rect r="r" b="b" t="t" l="l"/>
            <a:pathLst>
              <a:path h="1457058" w="1864138">
                <a:moveTo>
                  <a:pt x="0" y="0"/>
                </a:moveTo>
                <a:lnTo>
                  <a:pt x="1864138" y="0"/>
                </a:lnTo>
                <a:lnTo>
                  <a:pt x="1864138" y="1457059"/>
                </a:lnTo>
                <a:lnTo>
                  <a:pt x="0" y="145705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10925135" y="6271230"/>
            <a:ext cx="1864138" cy="1457058"/>
          </a:xfrm>
          <a:custGeom>
            <a:avLst/>
            <a:gdLst/>
            <a:ahLst/>
            <a:cxnLst/>
            <a:rect r="r" b="b" t="t" l="l"/>
            <a:pathLst>
              <a:path h="1457058" w="1864138">
                <a:moveTo>
                  <a:pt x="0" y="0"/>
                </a:moveTo>
                <a:lnTo>
                  <a:pt x="1864137" y="0"/>
                </a:lnTo>
                <a:lnTo>
                  <a:pt x="1864137" y="1457059"/>
                </a:lnTo>
                <a:lnTo>
                  <a:pt x="0" y="145705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6" id="46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970" t="0" r="-972" b="0"/>
              </a:stretch>
            </a:blipFill>
          </p:spPr>
        </p:sp>
      </p:grpSp>
      <p:sp>
        <p:nvSpPr>
          <p:cNvPr name="Freeform 48" id="48"/>
          <p:cNvSpPr/>
          <p:nvPr/>
        </p:nvSpPr>
        <p:spPr>
          <a:xfrm flipH="false" flipV="false" rot="0">
            <a:off x="12998294" y="5472336"/>
            <a:ext cx="5091413" cy="3054848"/>
          </a:xfrm>
          <a:custGeom>
            <a:avLst/>
            <a:gdLst/>
            <a:ahLst/>
            <a:cxnLst/>
            <a:rect r="r" b="b" t="t" l="l"/>
            <a:pathLst>
              <a:path h="3054848" w="5091413">
                <a:moveTo>
                  <a:pt x="0" y="0"/>
                </a:moveTo>
                <a:lnTo>
                  <a:pt x="5091412" y="0"/>
                </a:lnTo>
                <a:lnTo>
                  <a:pt x="5091412" y="3054847"/>
                </a:lnTo>
                <a:lnTo>
                  <a:pt x="0" y="30548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6860977" y="5020790"/>
            <a:ext cx="3703298" cy="3703298"/>
          </a:xfrm>
          <a:custGeom>
            <a:avLst/>
            <a:gdLst/>
            <a:ahLst/>
            <a:cxnLst/>
            <a:rect r="r" b="b" t="t" l="l"/>
            <a:pathLst>
              <a:path h="3703298" w="3703298">
                <a:moveTo>
                  <a:pt x="0" y="0"/>
                </a:moveTo>
                <a:lnTo>
                  <a:pt x="3703298" y="0"/>
                </a:lnTo>
                <a:lnTo>
                  <a:pt x="3703298" y="3703298"/>
                </a:lnTo>
                <a:lnTo>
                  <a:pt x="0" y="370329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50" id="50"/>
          <p:cNvSpPr txBox="true"/>
          <p:nvPr/>
        </p:nvSpPr>
        <p:spPr>
          <a:xfrm rot="0">
            <a:off x="1523364" y="594951"/>
            <a:ext cx="9040911" cy="320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4"/>
              </a:lnSpc>
            </a:pPr>
            <a:r>
              <a:rPr lang="en-US" sz="24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ПАЙПЛАЙН И МОЯ ЧАСТЬ В НЕМ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740383" y="556851"/>
            <a:ext cx="266386" cy="489290"/>
            <a:chOff x="0" y="0"/>
            <a:chExt cx="355181" cy="65238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1" r="-199721" b="-1318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393280">
            <a:off x="8520217" y="6054785"/>
            <a:ext cx="7338632" cy="0"/>
          </a:xfrm>
          <a:prstGeom prst="line">
            <a:avLst/>
          </a:prstGeom>
          <a:ln cap="rnd" w="9525">
            <a:solidFill>
              <a:srgbClr val="1F497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8751760" y="2519433"/>
            <a:ext cx="8507540" cy="6738867"/>
          </a:xfrm>
          <a:custGeom>
            <a:avLst/>
            <a:gdLst/>
            <a:ahLst/>
            <a:cxnLst/>
            <a:rect r="r" b="b" t="t" l="l"/>
            <a:pathLst>
              <a:path h="6738867" w="8507540">
                <a:moveTo>
                  <a:pt x="0" y="0"/>
                </a:moveTo>
                <a:lnTo>
                  <a:pt x="8507540" y="0"/>
                </a:lnTo>
                <a:lnTo>
                  <a:pt x="8507540" y="6738867"/>
                </a:lnTo>
                <a:lnTo>
                  <a:pt x="0" y="67388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60933" y="2519433"/>
            <a:ext cx="7921829" cy="6033793"/>
          </a:xfrm>
          <a:custGeom>
            <a:avLst/>
            <a:gdLst/>
            <a:ahLst/>
            <a:cxnLst/>
            <a:rect r="r" b="b" t="t" l="l"/>
            <a:pathLst>
              <a:path h="6033793" w="7921829">
                <a:moveTo>
                  <a:pt x="0" y="0"/>
                </a:moveTo>
                <a:lnTo>
                  <a:pt x="7921829" y="0"/>
                </a:lnTo>
                <a:lnTo>
                  <a:pt x="7921829" y="6033793"/>
                </a:lnTo>
                <a:lnTo>
                  <a:pt x="0" y="60337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ПОЧЕМУ ПУЛЬС ВИДЕН ЧЕРЕЗ КАМЕРУ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836767" y="1699339"/>
            <a:ext cx="3903233" cy="820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Молярный коэффициент поглощения гемоглобина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05950" y="3103318"/>
            <a:ext cx="9265915" cy="1863519"/>
          </a:xfrm>
          <a:custGeom>
            <a:avLst/>
            <a:gdLst/>
            <a:ahLst/>
            <a:cxnLst/>
            <a:rect r="r" b="b" t="t" l="l"/>
            <a:pathLst>
              <a:path h="1863519" w="9265915">
                <a:moveTo>
                  <a:pt x="0" y="0"/>
                </a:moveTo>
                <a:lnTo>
                  <a:pt x="9265915" y="0"/>
                </a:lnTo>
                <a:lnTo>
                  <a:pt x="9265915" y="1863519"/>
                </a:lnTo>
                <a:lnTo>
                  <a:pt x="0" y="18635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7348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58705" y="4654725"/>
            <a:ext cx="12560406" cy="1929967"/>
          </a:xfrm>
          <a:custGeom>
            <a:avLst/>
            <a:gdLst/>
            <a:ahLst/>
            <a:cxnLst/>
            <a:rect r="r" b="b" t="t" l="l"/>
            <a:pathLst>
              <a:path h="1929967" w="12560406">
                <a:moveTo>
                  <a:pt x="0" y="0"/>
                </a:moveTo>
                <a:lnTo>
                  <a:pt x="12560406" y="0"/>
                </a:lnTo>
                <a:lnTo>
                  <a:pt x="12560406" y="1929967"/>
                </a:lnTo>
                <a:lnTo>
                  <a:pt x="0" y="19299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27012" r="0" b="-24507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2251" y="6246768"/>
            <a:ext cx="14783497" cy="3438190"/>
          </a:xfrm>
          <a:custGeom>
            <a:avLst/>
            <a:gdLst/>
            <a:ahLst/>
            <a:cxnLst/>
            <a:rect r="r" b="b" t="t" l="l"/>
            <a:pathLst>
              <a:path h="3438190" w="14783497">
                <a:moveTo>
                  <a:pt x="0" y="0"/>
                </a:moveTo>
                <a:lnTo>
                  <a:pt x="14783498" y="0"/>
                </a:lnTo>
                <a:lnTo>
                  <a:pt x="14783498" y="3438190"/>
                </a:lnTo>
                <a:lnTo>
                  <a:pt x="0" y="34381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6045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36775" y="383276"/>
            <a:ext cx="8434121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ФИЗИЧЕСКАЯ МОДЕЛЬ СИГНАЛА</a:t>
            </a:r>
          </a:p>
          <a:p>
            <a:pPr algn="l">
              <a:lnSpc>
                <a:spcPts val="287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884639" y="1486028"/>
            <a:ext cx="12108538" cy="1143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98"/>
              </a:lnSpc>
            </a:pPr>
            <a:r>
              <a:rPr lang="en-US" sz="6713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Закон Бугера-Ламберта-Бера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70" t="0" r="-972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" r="-199721" b="-131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68997" y="1028700"/>
            <a:ext cx="11630700" cy="1889989"/>
          </a:xfrm>
          <a:custGeom>
            <a:avLst/>
            <a:gdLst/>
            <a:ahLst/>
            <a:cxnLst/>
            <a:rect r="r" b="b" t="t" l="l"/>
            <a:pathLst>
              <a:path h="1889989" w="11630700">
                <a:moveTo>
                  <a:pt x="0" y="0"/>
                </a:moveTo>
                <a:lnTo>
                  <a:pt x="11630700" y="0"/>
                </a:lnTo>
                <a:lnTo>
                  <a:pt x="11630700" y="1889989"/>
                </a:lnTo>
                <a:lnTo>
                  <a:pt x="0" y="1889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576099" y="2378902"/>
            <a:ext cx="11723599" cy="3209335"/>
          </a:xfrm>
          <a:custGeom>
            <a:avLst/>
            <a:gdLst/>
            <a:ahLst/>
            <a:cxnLst/>
            <a:rect r="r" b="b" t="t" l="l"/>
            <a:pathLst>
              <a:path h="3209335" w="11723599">
                <a:moveTo>
                  <a:pt x="0" y="0"/>
                </a:moveTo>
                <a:lnTo>
                  <a:pt x="11723598" y="0"/>
                </a:lnTo>
                <a:lnTo>
                  <a:pt x="11723598" y="3209335"/>
                </a:lnTo>
                <a:lnTo>
                  <a:pt x="0" y="3209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39687" y="5750342"/>
            <a:ext cx="17288573" cy="1253422"/>
          </a:xfrm>
          <a:custGeom>
            <a:avLst/>
            <a:gdLst/>
            <a:ahLst/>
            <a:cxnLst/>
            <a:rect r="r" b="b" t="t" l="l"/>
            <a:pathLst>
              <a:path h="1253422" w="17288573">
                <a:moveTo>
                  <a:pt x="0" y="0"/>
                </a:moveTo>
                <a:lnTo>
                  <a:pt x="17288573" y="0"/>
                </a:lnTo>
                <a:lnTo>
                  <a:pt x="17288573" y="1253422"/>
                </a:lnTo>
                <a:lnTo>
                  <a:pt x="0" y="12534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64993" y="7003764"/>
            <a:ext cx="5629413" cy="1100487"/>
          </a:xfrm>
          <a:custGeom>
            <a:avLst/>
            <a:gdLst/>
            <a:ahLst/>
            <a:cxnLst/>
            <a:rect r="r" b="b" t="t" l="l"/>
            <a:pathLst>
              <a:path h="1100487" w="5629413">
                <a:moveTo>
                  <a:pt x="0" y="0"/>
                </a:moveTo>
                <a:lnTo>
                  <a:pt x="5629413" y="0"/>
                </a:lnTo>
                <a:lnTo>
                  <a:pt x="5629413" y="1100486"/>
                </a:lnTo>
                <a:lnTo>
                  <a:pt x="0" y="11004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423978" y="383276"/>
            <a:ext cx="8434121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ФИЗИЧЕСКАЯ МОДЕЛЬ СИГНАЛА</a:t>
            </a:r>
          </a:p>
          <a:p>
            <a:pPr algn="l">
              <a:lnSpc>
                <a:spcPts val="2879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70" t="0" r="-972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" r="-199721" b="-131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09606" y="1028700"/>
            <a:ext cx="8512703" cy="1459760"/>
          </a:xfrm>
          <a:custGeom>
            <a:avLst/>
            <a:gdLst/>
            <a:ahLst/>
            <a:cxnLst/>
            <a:rect r="r" b="b" t="t" l="l"/>
            <a:pathLst>
              <a:path h="1459760" w="8512703">
                <a:moveTo>
                  <a:pt x="0" y="0"/>
                </a:moveTo>
                <a:lnTo>
                  <a:pt x="8512703" y="0"/>
                </a:lnTo>
                <a:lnTo>
                  <a:pt x="8512703" y="1459760"/>
                </a:lnTo>
                <a:lnTo>
                  <a:pt x="0" y="14597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261035" y="2488460"/>
            <a:ext cx="13765929" cy="1720741"/>
          </a:xfrm>
          <a:custGeom>
            <a:avLst/>
            <a:gdLst/>
            <a:ahLst/>
            <a:cxnLst/>
            <a:rect r="r" b="b" t="t" l="l"/>
            <a:pathLst>
              <a:path h="1720741" w="13765929">
                <a:moveTo>
                  <a:pt x="0" y="0"/>
                </a:moveTo>
                <a:lnTo>
                  <a:pt x="13765930" y="0"/>
                </a:lnTo>
                <a:lnTo>
                  <a:pt x="13765930" y="1720741"/>
                </a:lnTo>
                <a:lnTo>
                  <a:pt x="0" y="17207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232240" y="4238553"/>
            <a:ext cx="6823184" cy="835840"/>
          </a:xfrm>
          <a:custGeom>
            <a:avLst/>
            <a:gdLst/>
            <a:ahLst/>
            <a:cxnLst/>
            <a:rect r="r" b="b" t="t" l="l"/>
            <a:pathLst>
              <a:path h="835840" w="6823184">
                <a:moveTo>
                  <a:pt x="0" y="0"/>
                </a:moveTo>
                <a:lnTo>
                  <a:pt x="6823185" y="0"/>
                </a:lnTo>
                <a:lnTo>
                  <a:pt x="6823185" y="835840"/>
                </a:lnTo>
                <a:lnTo>
                  <a:pt x="0" y="8358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140871" y="5103745"/>
            <a:ext cx="6600575" cy="1853876"/>
          </a:xfrm>
          <a:custGeom>
            <a:avLst/>
            <a:gdLst/>
            <a:ahLst/>
            <a:cxnLst/>
            <a:rect r="r" b="b" t="t" l="l"/>
            <a:pathLst>
              <a:path h="1853876" w="6600575">
                <a:moveTo>
                  <a:pt x="0" y="0"/>
                </a:moveTo>
                <a:lnTo>
                  <a:pt x="6600575" y="0"/>
                </a:lnTo>
                <a:lnTo>
                  <a:pt x="6600575" y="1853876"/>
                </a:lnTo>
                <a:lnTo>
                  <a:pt x="0" y="185387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8992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" r="-199721" b="-1318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1760868" y="6986196"/>
            <a:ext cx="13765929" cy="1772363"/>
          </a:xfrm>
          <a:custGeom>
            <a:avLst/>
            <a:gdLst/>
            <a:ahLst/>
            <a:cxnLst/>
            <a:rect r="r" b="b" t="t" l="l"/>
            <a:pathLst>
              <a:path h="1772363" w="13765929">
                <a:moveTo>
                  <a:pt x="0" y="0"/>
                </a:moveTo>
                <a:lnTo>
                  <a:pt x="13765929" y="0"/>
                </a:lnTo>
                <a:lnTo>
                  <a:pt x="13765929" y="1772364"/>
                </a:lnTo>
                <a:lnTo>
                  <a:pt x="0" y="177236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DSP, DFT, АЛГОРИТМ КУЛИ-ТЬЮКИ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47257" y="3301303"/>
            <a:ext cx="17393487" cy="5718109"/>
          </a:xfrm>
          <a:custGeom>
            <a:avLst/>
            <a:gdLst/>
            <a:ahLst/>
            <a:cxnLst/>
            <a:rect r="r" b="b" t="t" l="l"/>
            <a:pathLst>
              <a:path h="5718109" w="17393487">
                <a:moveTo>
                  <a:pt x="0" y="0"/>
                </a:moveTo>
                <a:lnTo>
                  <a:pt x="17393486" y="0"/>
                </a:lnTo>
                <a:lnTo>
                  <a:pt x="17393486" y="5718108"/>
                </a:lnTo>
                <a:lnTo>
                  <a:pt x="0" y="5718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970" t="0" r="-972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-199721" b="-1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3" t="0" r="-53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6936735" y="1541337"/>
            <a:ext cx="5842729" cy="1511508"/>
          </a:xfrm>
          <a:custGeom>
            <a:avLst/>
            <a:gdLst/>
            <a:ahLst/>
            <a:cxnLst/>
            <a:rect r="r" b="b" t="t" l="l"/>
            <a:pathLst>
              <a:path h="1511508" w="5842729">
                <a:moveTo>
                  <a:pt x="0" y="0"/>
                </a:moveTo>
                <a:lnTo>
                  <a:pt x="5842729" y="0"/>
                </a:lnTo>
                <a:lnTo>
                  <a:pt x="5842729" y="1511508"/>
                </a:lnTo>
                <a:lnTo>
                  <a:pt x="0" y="15115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1459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МЕТОД УЭЛЧА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3" t="0" r="-53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970" t="0" r="-97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-199721" b="-1318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611291" y="3515335"/>
            <a:ext cx="15065418" cy="5706027"/>
          </a:xfrm>
          <a:custGeom>
            <a:avLst/>
            <a:gdLst/>
            <a:ahLst/>
            <a:cxnLst/>
            <a:rect r="r" b="b" t="t" l="l"/>
            <a:pathLst>
              <a:path h="5706027" w="15065418">
                <a:moveTo>
                  <a:pt x="0" y="0"/>
                </a:moveTo>
                <a:lnTo>
                  <a:pt x="15065418" y="0"/>
                </a:lnTo>
                <a:lnTo>
                  <a:pt x="15065418" y="5706027"/>
                </a:lnTo>
                <a:lnTo>
                  <a:pt x="0" y="5706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333784" y="2239594"/>
            <a:ext cx="8874719" cy="1275741"/>
          </a:xfrm>
          <a:custGeom>
            <a:avLst/>
            <a:gdLst/>
            <a:ahLst/>
            <a:cxnLst/>
            <a:rect r="r" b="b" t="t" l="l"/>
            <a:pathLst>
              <a:path h="1275741" w="8874719">
                <a:moveTo>
                  <a:pt x="0" y="0"/>
                </a:moveTo>
                <a:lnTo>
                  <a:pt x="8874719" y="0"/>
                </a:lnTo>
                <a:lnTo>
                  <a:pt x="8874719" y="1275741"/>
                </a:lnTo>
                <a:lnTo>
                  <a:pt x="0" y="12757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615175" y="1451776"/>
            <a:ext cx="8311937" cy="964404"/>
          </a:xfrm>
          <a:custGeom>
            <a:avLst/>
            <a:gdLst/>
            <a:ahLst/>
            <a:cxnLst/>
            <a:rect r="r" b="b" t="t" l="l"/>
            <a:pathLst>
              <a:path h="964404" w="8311937">
                <a:moveTo>
                  <a:pt x="0" y="0"/>
                </a:moveTo>
                <a:lnTo>
                  <a:pt x="8311937" y="0"/>
                </a:lnTo>
                <a:lnTo>
                  <a:pt x="8311937" y="964404"/>
                </a:lnTo>
                <a:lnTo>
                  <a:pt x="0" y="9644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29339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ПРОБЛЕМА КОНЕЧНОГО ОКНА, ОКНО ХАННА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110275" y="3699186"/>
            <a:ext cx="3495649" cy="682657"/>
          </a:xfrm>
          <a:custGeom>
            <a:avLst/>
            <a:gdLst/>
            <a:ahLst/>
            <a:cxnLst/>
            <a:rect r="r" b="b" t="t" l="l"/>
            <a:pathLst>
              <a:path h="682657" w="3495649">
                <a:moveTo>
                  <a:pt x="0" y="0"/>
                </a:moveTo>
                <a:lnTo>
                  <a:pt x="3495649" y="0"/>
                </a:lnTo>
                <a:lnTo>
                  <a:pt x="3495649" y="682657"/>
                </a:lnTo>
                <a:lnTo>
                  <a:pt x="0" y="68265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502" r="0" b="-2007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187557" y="5011659"/>
            <a:ext cx="7341084" cy="1240729"/>
          </a:xfrm>
          <a:custGeom>
            <a:avLst/>
            <a:gdLst/>
            <a:ahLst/>
            <a:cxnLst/>
            <a:rect r="r" b="b" t="t" l="l"/>
            <a:pathLst>
              <a:path h="1240729" w="7341084">
                <a:moveTo>
                  <a:pt x="0" y="0"/>
                </a:moveTo>
                <a:lnTo>
                  <a:pt x="7341084" y="0"/>
                </a:lnTo>
                <a:lnTo>
                  <a:pt x="7341084" y="1240729"/>
                </a:lnTo>
                <a:lnTo>
                  <a:pt x="0" y="1240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240" t="-9237" r="0" b="-2045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62433" y="6306940"/>
            <a:ext cx="6001760" cy="1560592"/>
          </a:xfrm>
          <a:custGeom>
            <a:avLst/>
            <a:gdLst/>
            <a:ahLst/>
            <a:cxnLst/>
            <a:rect r="r" b="b" t="t" l="l"/>
            <a:pathLst>
              <a:path h="1560592" w="6001760">
                <a:moveTo>
                  <a:pt x="0" y="0"/>
                </a:moveTo>
                <a:lnTo>
                  <a:pt x="6001760" y="0"/>
                </a:lnTo>
                <a:lnTo>
                  <a:pt x="6001760" y="1560592"/>
                </a:lnTo>
                <a:lnTo>
                  <a:pt x="0" y="156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6251" t="-17678" r="0" b="-17678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862433" y="7914721"/>
            <a:ext cx="6118244" cy="635467"/>
          </a:xfrm>
          <a:custGeom>
            <a:avLst/>
            <a:gdLst/>
            <a:ahLst/>
            <a:cxnLst/>
            <a:rect r="r" b="b" t="t" l="l"/>
            <a:pathLst>
              <a:path h="635467" w="6118244">
                <a:moveTo>
                  <a:pt x="0" y="0"/>
                </a:moveTo>
                <a:lnTo>
                  <a:pt x="6118244" y="0"/>
                </a:lnTo>
                <a:lnTo>
                  <a:pt x="6118244" y="635468"/>
                </a:lnTo>
                <a:lnTo>
                  <a:pt x="0" y="6354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40433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133478" y="8676027"/>
            <a:ext cx="3216273" cy="545335"/>
          </a:xfrm>
          <a:custGeom>
            <a:avLst/>
            <a:gdLst/>
            <a:ahLst/>
            <a:cxnLst/>
            <a:rect r="r" b="b" t="t" l="l"/>
            <a:pathLst>
              <a:path h="545335" w="3216273">
                <a:moveTo>
                  <a:pt x="0" y="0"/>
                </a:moveTo>
                <a:lnTo>
                  <a:pt x="3216274" y="0"/>
                </a:lnTo>
                <a:lnTo>
                  <a:pt x="3216274" y="545335"/>
                </a:lnTo>
                <a:lnTo>
                  <a:pt x="0" y="5453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34726" r="0" b="-23402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53" t="0" r="-53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970" t="0" r="-972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" r="-199721" b="-1318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6626780" y="1738530"/>
            <a:ext cx="6229670" cy="994938"/>
          </a:xfrm>
          <a:custGeom>
            <a:avLst/>
            <a:gdLst/>
            <a:ahLst/>
            <a:cxnLst/>
            <a:rect r="r" b="b" t="t" l="l"/>
            <a:pathLst>
              <a:path h="994938" w="6229670">
                <a:moveTo>
                  <a:pt x="0" y="0"/>
                </a:moveTo>
                <a:lnTo>
                  <a:pt x="6229670" y="0"/>
                </a:lnTo>
                <a:lnTo>
                  <a:pt x="6229670" y="994938"/>
                </a:lnTo>
                <a:lnTo>
                  <a:pt x="0" y="99493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8039618" y="2647743"/>
            <a:ext cx="3989717" cy="807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86"/>
              </a:lnSpc>
            </a:pPr>
            <a:r>
              <a:rPr lang="en-US" sz="477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Метод GREEN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843316" y="4257413"/>
            <a:ext cx="4279879" cy="16551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07"/>
              </a:lnSpc>
            </a:pPr>
            <a:r>
              <a:rPr lang="en-US" sz="47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Метод CHROM</a:t>
            </a:r>
          </a:p>
          <a:p>
            <a:pPr algn="ctr">
              <a:lnSpc>
                <a:spcPts val="6707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АЛГОРИТМЫ ИЗВЛЕЧЕНИЯ  ПУЛЬСОВОГО СИГНАЛА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3" t="0" r="-53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970" t="0" r="-97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-199721" b="-1318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3493371" y="3913732"/>
            <a:ext cx="11301259" cy="1313771"/>
          </a:xfrm>
          <a:custGeom>
            <a:avLst/>
            <a:gdLst/>
            <a:ahLst/>
            <a:cxnLst/>
            <a:rect r="r" b="b" t="t" l="l"/>
            <a:pathLst>
              <a:path h="1313771" w="11301259">
                <a:moveTo>
                  <a:pt x="0" y="0"/>
                </a:moveTo>
                <a:lnTo>
                  <a:pt x="11301258" y="0"/>
                </a:lnTo>
                <a:lnTo>
                  <a:pt x="11301258" y="1313772"/>
                </a:lnTo>
                <a:lnTo>
                  <a:pt x="0" y="13137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777325" y="5113443"/>
            <a:ext cx="9488487" cy="1686097"/>
          </a:xfrm>
          <a:custGeom>
            <a:avLst/>
            <a:gdLst/>
            <a:ahLst/>
            <a:cxnLst/>
            <a:rect r="r" b="b" t="t" l="l"/>
            <a:pathLst>
              <a:path h="1686097" w="9488487">
                <a:moveTo>
                  <a:pt x="0" y="0"/>
                </a:moveTo>
                <a:lnTo>
                  <a:pt x="9488487" y="0"/>
                </a:lnTo>
                <a:lnTo>
                  <a:pt x="9488487" y="1686097"/>
                </a:lnTo>
                <a:lnTo>
                  <a:pt x="0" y="16860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25211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613788" y="2402262"/>
            <a:ext cx="4124212" cy="1872261"/>
          </a:xfrm>
          <a:custGeom>
            <a:avLst/>
            <a:gdLst/>
            <a:ahLst/>
            <a:cxnLst/>
            <a:rect r="r" b="b" t="t" l="l"/>
            <a:pathLst>
              <a:path h="1872261" w="4124212">
                <a:moveTo>
                  <a:pt x="0" y="0"/>
                </a:moveTo>
                <a:lnTo>
                  <a:pt x="4124213" y="0"/>
                </a:lnTo>
                <a:lnTo>
                  <a:pt x="4124213" y="1872262"/>
                </a:lnTo>
                <a:lnTo>
                  <a:pt x="0" y="1872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7375152" y="1308981"/>
            <a:ext cx="3537696" cy="8891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4"/>
              </a:lnSpc>
            </a:pPr>
            <a:r>
              <a:rPr lang="en-US" sz="526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Метод POS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АЛГОРИТМЫ ИЗВЛЕЧЕНИЯ  ПУЛЬСОВОГО СИГНАЛА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63213" y="1806213"/>
            <a:ext cx="16961575" cy="8480787"/>
          </a:xfrm>
          <a:custGeom>
            <a:avLst/>
            <a:gdLst/>
            <a:ahLst/>
            <a:cxnLst/>
            <a:rect r="r" b="b" t="t" l="l"/>
            <a:pathLst>
              <a:path h="8480787" w="16961575">
                <a:moveTo>
                  <a:pt x="0" y="0"/>
                </a:moveTo>
                <a:lnTo>
                  <a:pt x="16961574" y="0"/>
                </a:lnTo>
                <a:lnTo>
                  <a:pt x="16961574" y="8480787"/>
                </a:lnTo>
                <a:lnTo>
                  <a:pt x="0" y="84807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3" t="0" r="-53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СРАВНЕНИЕ МЕТОДОВ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57600" y="1028700"/>
            <a:ext cx="10972800" cy="8229600"/>
          </a:xfrm>
          <a:custGeom>
            <a:avLst/>
            <a:gdLst/>
            <a:ahLst/>
            <a:cxnLst/>
            <a:rect r="r" b="b" t="t" l="l"/>
            <a:pathLst>
              <a:path h="8229600" w="10972800">
                <a:moveTo>
                  <a:pt x="0" y="0"/>
                </a:moveTo>
                <a:lnTo>
                  <a:pt x="10972800" y="0"/>
                </a:lnTo>
                <a:lnTo>
                  <a:pt x="109728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3" t="0" r="-53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СРАВНЕНИЕ МЕТОДОВ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46911" y="1347814"/>
            <a:ext cx="11394179" cy="7591372"/>
          </a:xfrm>
          <a:custGeom>
            <a:avLst/>
            <a:gdLst/>
            <a:ahLst/>
            <a:cxnLst/>
            <a:rect r="r" b="b" t="t" l="l"/>
            <a:pathLst>
              <a:path h="7591372" w="11394179">
                <a:moveTo>
                  <a:pt x="0" y="0"/>
                </a:moveTo>
                <a:lnTo>
                  <a:pt x="11394178" y="0"/>
                </a:lnTo>
                <a:lnTo>
                  <a:pt x="11394178" y="7591372"/>
                </a:lnTo>
                <a:lnTo>
                  <a:pt x="0" y="759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3" t="0" r="-53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СРАВНЕНИЕ МЕТОДОВ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3" t="0" r="-53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512727" y="1423940"/>
            <a:ext cx="14878241" cy="7439121"/>
          </a:xfrm>
          <a:custGeom>
            <a:avLst/>
            <a:gdLst/>
            <a:ahLst/>
            <a:cxnLst/>
            <a:rect r="r" b="b" t="t" l="l"/>
            <a:pathLst>
              <a:path h="7439121" w="14878241">
                <a:moveTo>
                  <a:pt x="0" y="0"/>
                </a:moveTo>
                <a:lnTo>
                  <a:pt x="14878242" y="0"/>
                </a:lnTo>
                <a:lnTo>
                  <a:pt x="14878242" y="7439120"/>
                </a:lnTo>
                <a:lnTo>
                  <a:pt x="0" y="7439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СРАВНЕНИЕ МЕТОДОВ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tru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3716000"/>
                  </a:lnTo>
                  <a:lnTo>
                    <a:pt x="24384000" y="13716000"/>
                  </a:lnTo>
                  <a:lnTo>
                    <a:pt x="2438400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5400000">
            <a:off x="5200650" y="-243773"/>
            <a:ext cx="1700212" cy="12101522"/>
            <a:chOff x="0" y="0"/>
            <a:chExt cx="2266950" cy="1613536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66950" cy="16135350"/>
            </a:xfrm>
            <a:custGeom>
              <a:avLst/>
              <a:gdLst/>
              <a:ahLst/>
              <a:cxnLst/>
              <a:rect r="r" b="b" t="t" l="l"/>
              <a:pathLst>
                <a:path h="16135350" w="2266950">
                  <a:moveTo>
                    <a:pt x="0" y="0"/>
                  </a:moveTo>
                  <a:lnTo>
                    <a:pt x="2266950" y="0"/>
                  </a:lnTo>
                  <a:lnTo>
                    <a:pt x="2266950" y="16135350"/>
                  </a:lnTo>
                  <a:lnTo>
                    <a:pt x="0" y="16135350"/>
                  </a:lnTo>
                  <a:close/>
                </a:path>
              </a:pathLst>
            </a:custGeom>
            <a:solidFill>
              <a:srgbClr val="023A84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98118" y="5338877"/>
            <a:ext cx="12912223" cy="87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СПАСИБО ЗА ВНИМАНИЕ!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5476153" y="4956877"/>
            <a:ext cx="2037502" cy="1264987"/>
            <a:chOff x="0" y="0"/>
            <a:chExt cx="2716670" cy="168664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716657" cy="1686687"/>
            </a:xfrm>
            <a:custGeom>
              <a:avLst/>
              <a:gdLst/>
              <a:ahLst/>
              <a:cxnLst/>
              <a:rect r="r" b="b" t="t" l="l"/>
              <a:pathLst>
                <a:path h="1686687" w="2716657">
                  <a:moveTo>
                    <a:pt x="0" y="0"/>
                  </a:moveTo>
                  <a:lnTo>
                    <a:pt x="2716657" y="0"/>
                  </a:lnTo>
                  <a:lnTo>
                    <a:pt x="2716657" y="1686687"/>
                  </a:lnTo>
                  <a:lnTo>
                    <a:pt x="0" y="16866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2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DAHKlX8P11o</dc:identifier>
  <dcterms:modified xsi:type="dcterms:W3CDTF">2011-08-01T06:04:30Z</dcterms:modified>
  <cp:revision>1</cp:revision>
  <dc:title>Тема</dc:title>
</cp:coreProperties>
</file>