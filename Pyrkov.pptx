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al Bold" charset="1" panose="020B0704020202020204"/>
      <p:regular r:id="rId21"/>
    </p:embeddedFont>
    <p:embeddedFont>
      <p:font typeface="Arial Italics" charset="1" panose="020B0604020202090204"/>
      <p:regular r:id="rId22"/>
    </p:embeddedFont>
    <p:embeddedFont>
      <p:font typeface="Montserrat Bold" charset="1" panose="00000800000000000000"/>
      <p:regular r:id="rId23"/>
    </p:embeddedFont>
    <p:embeddedFont>
      <p:font typeface="Arial" charset="1" panose="020B0604020202020204"/>
      <p:regular r:id="rId24"/>
    </p:embeddedFont>
    <p:embeddedFont>
      <p:font typeface="Times New Roman" charset="1" panose="02020603050405020304"/>
      <p:regular r:id="rId25"/>
    </p:embeddedFont>
    <p:embeddedFont>
      <p:font typeface="Times New Roman Bold" charset="1" panose="020208030705050203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11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8.png" Type="http://schemas.openxmlformats.org/officeDocument/2006/relationships/image"/><Relationship Id="rId6" Target="../media/image2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8.png" Type="http://schemas.openxmlformats.org/officeDocument/2006/relationships/image"/><Relationship Id="rId7" Target="../media/image2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8.png" Type="http://schemas.openxmlformats.org/officeDocument/2006/relationships/image"/><Relationship Id="rId7" Target="../media/image2.png" Type="http://schemas.openxmlformats.org/officeDocument/2006/relationships/image"/><Relationship Id="rId8" Target="../media/image25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11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11.png" Type="http://schemas.openxmlformats.org/officeDocument/2006/relationships/image"/><Relationship Id="rId8" Target="../media/image8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11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11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11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3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200900" y="-800100"/>
            <a:ext cx="3886200" cy="18288000"/>
            <a:chOff x="0" y="0"/>
            <a:chExt cx="51816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6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24384000"/>
                  </a:lnTo>
                  <a:lnTo>
                    <a:pt x="0" y="24384000"/>
                  </a:lnTo>
                  <a:close/>
                </a:path>
              </a:pathLst>
            </a:custGeom>
            <a:solidFill>
              <a:srgbClr val="023A8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8118" y="7112041"/>
            <a:ext cx="1279316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AC/DC, DFT, Алгоритм Кули-Тьюки, Метод Уэлча, Методы GREEN, CHROM, POS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666416" y="0"/>
            <a:ext cx="9621584" cy="6400800"/>
            <a:chOff x="0" y="0"/>
            <a:chExt cx="12828778" cy="853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8778" cy="8534400"/>
            </a:xfrm>
            <a:custGeom>
              <a:avLst/>
              <a:gdLst/>
              <a:ahLst/>
              <a:cxnLst/>
              <a:rect r="r" b="b" t="t" l="l"/>
              <a:pathLst>
                <a:path h="8534400" w="12828778">
                  <a:moveTo>
                    <a:pt x="0" y="0"/>
                  </a:moveTo>
                  <a:lnTo>
                    <a:pt x="12828778" y="0"/>
                  </a:lnTo>
                  <a:lnTo>
                    <a:pt x="12828778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435" t="-9872" r="-79538" b="-7612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431900" y="8137103"/>
            <a:ext cx="1768640" cy="1098204"/>
            <a:chOff x="0" y="0"/>
            <a:chExt cx="2358187" cy="1464272"/>
          </a:xfrm>
        </p:grpSpPr>
        <p:sp>
          <p:nvSpPr>
            <p:cNvPr name="Freeform 8" id="8" descr="C:\Users\Софья\Desktop\Приоритет 2030\ru.png"/>
            <p:cNvSpPr/>
            <p:nvPr/>
          </p:nvSpPr>
          <p:spPr>
            <a:xfrm flipH="false" flipV="false" rot="0">
              <a:off x="0" y="0"/>
              <a:ext cx="2358136" cy="1464310"/>
            </a:xfrm>
            <a:custGeom>
              <a:avLst/>
              <a:gdLst/>
              <a:ahLst/>
              <a:cxnLst/>
              <a:rect r="r" b="b" t="t" l="l"/>
              <a:pathLst>
                <a:path h="1464310" w="2358136">
                  <a:moveTo>
                    <a:pt x="0" y="0"/>
                  </a:moveTo>
                  <a:lnTo>
                    <a:pt x="2358136" y="0"/>
                  </a:lnTo>
                  <a:lnTo>
                    <a:pt x="2358136" y="1464310"/>
                  </a:lnTo>
                  <a:lnTo>
                    <a:pt x="0" y="146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4" b="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98118" y="8882491"/>
            <a:ext cx="7714650" cy="48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Студент: Пырков В.А. Б9123-01.03.02сп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8118" y="944451"/>
            <a:ext cx="6582861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Разработка программного комплекса для оптического измерения пульса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8118" y="9345044"/>
            <a:ext cx="77146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Руководитель: Боровик А.И.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04949" y="9721710"/>
            <a:ext cx="463848" cy="565290"/>
            <a:chOff x="0" y="0"/>
            <a:chExt cx="618465" cy="753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490" cy="753745"/>
            </a:xfrm>
            <a:custGeom>
              <a:avLst/>
              <a:gdLst/>
              <a:ahLst/>
              <a:cxnLst/>
              <a:rect r="r" b="b" t="t" l="l"/>
              <a:pathLst>
                <a:path h="753745" w="618490">
                  <a:moveTo>
                    <a:pt x="0" y="0"/>
                  </a:moveTo>
                  <a:lnTo>
                    <a:pt x="618490" y="0"/>
                  </a:lnTo>
                  <a:lnTo>
                    <a:pt x="618490" y="753745"/>
                  </a:lnTo>
                  <a:lnTo>
                    <a:pt x="0" y="7537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466" t="0" r="-106462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789053"/>
            <a:ext cx="1741256" cy="751570"/>
            <a:chOff x="0" y="0"/>
            <a:chExt cx="2321674" cy="1002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1687" cy="1002030"/>
            </a:xfrm>
            <a:custGeom>
              <a:avLst/>
              <a:gdLst/>
              <a:ahLst/>
              <a:cxnLst/>
              <a:rect r="r" b="b" t="t" l="l"/>
              <a:pathLst>
                <a:path h="1002030" w="2321687">
                  <a:moveTo>
                    <a:pt x="0" y="0"/>
                  </a:moveTo>
                  <a:lnTo>
                    <a:pt x="2321687" y="0"/>
                  </a:lnTo>
                  <a:lnTo>
                    <a:pt x="2321687" y="1002030"/>
                  </a:lnTo>
                  <a:lnTo>
                    <a:pt x="0" y="1002030"/>
                  </a:lnTo>
                  <a:close/>
                </a:path>
              </a:pathLst>
            </a:custGeom>
            <a:solidFill>
              <a:srgbClr val="00509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752896"/>
            <a:ext cx="1741256" cy="787733"/>
            <a:chOff x="0" y="0"/>
            <a:chExt cx="2321674" cy="10503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21672" cy="1050307"/>
            </a:xfrm>
            <a:custGeom>
              <a:avLst/>
              <a:gdLst/>
              <a:ahLst/>
              <a:cxnLst/>
              <a:rect r="r" b="b" t="t" l="l"/>
              <a:pathLst>
                <a:path h="1050307" w="2321672">
                  <a:moveTo>
                    <a:pt x="0" y="0"/>
                  </a:moveTo>
                  <a:lnTo>
                    <a:pt x="2321672" y="0"/>
                  </a:lnTo>
                  <a:lnTo>
                    <a:pt x="2321672" y="1050307"/>
                  </a:lnTo>
                  <a:lnTo>
                    <a:pt x="0" y="10503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43" t="0" r="-8044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321674" cy="1059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Видео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42706" y="2789053"/>
            <a:ext cx="2045046" cy="751570"/>
            <a:chOff x="0" y="0"/>
            <a:chExt cx="2726728" cy="10020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26690" cy="1002030"/>
            </a:xfrm>
            <a:custGeom>
              <a:avLst/>
              <a:gdLst/>
              <a:ahLst/>
              <a:cxnLst/>
              <a:rect r="r" b="b" t="t" l="l"/>
              <a:pathLst>
                <a:path h="1002030" w="2726690">
                  <a:moveTo>
                    <a:pt x="0" y="0"/>
                  </a:moveTo>
                  <a:lnTo>
                    <a:pt x="2726690" y="0"/>
                  </a:lnTo>
                  <a:lnTo>
                    <a:pt x="2726690" y="1002030"/>
                  </a:lnTo>
                  <a:lnTo>
                    <a:pt x="0" y="100203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42706" y="2752896"/>
            <a:ext cx="2045046" cy="787737"/>
            <a:chOff x="0" y="0"/>
            <a:chExt cx="2726728" cy="10503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26723" cy="1050311"/>
            </a:xfrm>
            <a:custGeom>
              <a:avLst/>
              <a:gdLst/>
              <a:ahLst/>
              <a:cxnLst/>
              <a:rect r="r" b="b" t="t" l="l"/>
              <a:pathLst>
                <a:path h="1050311" w="2726723">
                  <a:moveTo>
                    <a:pt x="0" y="0"/>
                  </a:moveTo>
                  <a:lnTo>
                    <a:pt x="2726723" y="0"/>
                  </a:lnTo>
                  <a:lnTo>
                    <a:pt x="2726723" y="1050311"/>
                  </a:lnTo>
                  <a:lnTo>
                    <a:pt x="0" y="10503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" r="0" b="-58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726728" cy="1059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1A7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Выделение лица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992518" y="2789053"/>
            <a:ext cx="2402824" cy="751570"/>
            <a:chOff x="0" y="0"/>
            <a:chExt cx="3203766" cy="10020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03702" cy="1002030"/>
            </a:xfrm>
            <a:custGeom>
              <a:avLst/>
              <a:gdLst/>
              <a:ahLst/>
              <a:cxnLst/>
              <a:rect r="r" b="b" t="t" l="l"/>
              <a:pathLst>
                <a:path h="1002030" w="3203702">
                  <a:moveTo>
                    <a:pt x="0" y="0"/>
                  </a:moveTo>
                  <a:lnTo>
                    <a:pt x="3203702" y="0"/>
                  </a:lnTo>
                  <a:lnTo>
                    <a:pt x="3203702" y="1002030"/>
                  </a:lnTo>
                  <a:lnTo>
                    <a:pt x="0" y="100203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992518" y="2752896"/>
            <a:ext cx="2402824" cy="787737"/>
            <a:chOff x="0" y="0"/>
            <a:chExt cx="3203766" cy="10503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03763" cy="1050311"/>
            </a:xfrm>
            <a:custGeom>
              <a:avLst/>
              <a:gdLst/>
              <a:ahLst/>
              <a:cxnLst/>
              <a:rect r="r" b="b" t="t" l="l"/>
              <a:pathLst>
                <a:path h="1050311" w="3203763">
                  <a:moveTo>
                    <a:pt x="0" y="0"/>
                  </a:moveTo>
                  <a:lnTo>
                    <a:pt x="3203763" y="0"/>
                  </a:lnTo>
                  <a:lnTo>
                    <a:pt x="3203763" y="1050311"/>
                  </a:lnTo>
                  <a:lnTo>
                    <a:pt x="0" y="10503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5" r="0" b="-943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203766" cy="1059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1A7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Выделение ROI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94762" y="2789053"/>
            <a:ext cx="2402824" cy="751568"/>
            <a:chOff x="0" y="0"/>
            <a:chExt cx="3203766" cy="10020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03702" cy="1002028"/>
            </a:xfrm>
            <a:custGeom>
              <a:avLst/>
              <a:gdLst/>
              <a:ahLst/>
              <a:cxnLst/>
              <a:rect r="r" b="b" t="t" l="l"/>
              <a:pathLst>
                <a:path h="1002028" w="3203702">
                  <a:moveTo>
                    <a:pt x="0" y="0"/>
                  </a:moveTo>
                  <a:lnTo>
                    <a:pt x="3203702" y="0"/>
                  </a:lnTo>
                  <a:lnTo>
                    <a:pt x="3203702" y="1002028"/>
                  </a:lnTo>
                  <a:lnTo>
                    <a:pt x="0" y="1002028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94762" y="2807137"/>
            <a:ext cx="2402824" cy="733485"/>
            <a:chOff x="0" y="0"/>
            <a:chExt cx="3203766" cy="9779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03763" cy="977976"/>
            </a:xfrm>
            <a:custGeom>
              <a:avLst/>
              <a:gdLst/>
              <a:ahLst/>
              <a:cxnLst/>
              <a:rect r="r" b="b" t="t" l="l"/>
              <a:pathLst>
                <a:path h="977976" w="3203763">
                  <a:moveTo>
                    <a:pt x="0" y="0"/>
                  </a:moveTo>
                  <a:lnTo>
                    <a:pt x="3203763" y="0"/>
                  </a:lnTo>
                  <a:lnTo>
                    <a:pt x="3203763" y="977976"/>
                  </a:lnTo>
                  <a:lnTo>
                    <a:pt x="0" y="977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32" r="0" b="-1752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203766" cy="98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1A7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Фильтрация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46221" y="2789042"/>
            <a:ext cx="2587876" cy="751580"/>
            <a:chOff x="0" y="0"/>
            <a:chExt cx="3450501" cy="10021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50463" cy="1002043"/>
            </a:xfrm>
            <a:custGeom>
              <a:avLst/>
              <a:gdLst/>
              <a:ahLst/>
              <a:cxnLst/>
              <a:rect r="r" b="b" t="t" l="l"/>
              <a:pathLst>
                <a:path h="1002043" w="3450463">
                  <a:moveTo>
                    <a:pt x="0" y="0"/>
                  </a:moveTo>
                  <a:lnTo>
                    <a:pt x="3450463" y="0"/>
                  </a:lnTo>
                  <a:lnTo>
                    <a:pt x="3450463" y="1002043"/>
                  </a:lnTo>
                  <a:lnTo>
                    <a:pt x="0" y="1002043"/>
                  </a:lnTo>
                  <a:close/>
                </a:path>
              </a:pathLst>
            </a:custGeom>
            <a:solidFill>
              <a:srgbClr val="00509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75733" y="2752889"/>
            <a:ext cx="2531983" cy="787733"/>
            <a:chOff x="0" y="0"/>
            <a:chExt cx="3375978" cy="10503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75979" cy="1050307"/>
            </a:xfrm>
            <a:custGeom>
              <a:avLst/>
              <a:gdLst/>
              <a:ahLst/>
              <a:cxnLst/>
              <a:rect r="r" b="b" t="t" l="l"/>
              <a:pathLst>
                <a:path h="1050307" w="3375979">
                  <a:moveTo>
                    <a:pt x="0" y="0"/>
                  </a:moveTo>
                  <a:lnTo>
                    <a:pt x="3375979" y="0"/>
                  </a:lnTo>
                  <a:lnTo>
                    <a:pt x="3375979" y="1050307"/>
                  </a:lnTo>
                  <a:lnTo>
                    <a:pt x="0" y="10503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12" r="-2207" b="-1401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375978" cy="1059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Спектральный анализ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82732" y="2789053"/>
            <a:ext cx="3873084" cy="751580"/>
            <a:chOff x="0" y="0"/>
            <a:chExt cx="5164112" cy="10021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64074" cy="1002043"/>
            </a:xfrm>
            <a:custGeom>
              <a:avLst/>
              <a:gdLst/>
              <a:ahLst/>
              <a:cxnLst/>
              <a:rect r="r" b="b" t="t" l="l"/>
              <a:pathLst>
                <a:path h="1002043" w="5164074">
                  <a:moveTo>
                    <a:pt x="0" y="0"/>
                  </a:moveTo>
                  <a:lnTo>
                    <a:pt x="5164074" y="0"/>
                  </a:lnTo>
                  <a:lnTo>
                    <a:pt x="5164074" y="1002043"/>
                  </a:lnTo>
                  <a:lnTo>
                    <a:pt x="0" y="1002043"/>
                  </a:lnTo>
                  <a:close/>
                </a:path>
              </a:pathLst>
            </a:custGeom>
            <a:solidFill>
              <a:srgbClr val="00509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482732" y="2807137"/>
            <a:ext cx="3873084" cy="733485"/>
            <a:chOff x="0" y="0"/>
            <a:chExt cx="5164112" cy="9779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64112" cy="977976"/>
            </a:xfrm>
            <a:custGeom>
              <a:avLst/>
              <a:gdLst/>
              <a:ahLst/>
              <a:cxnLst/>
              <a:rect r="r" b="b" t="t" l="l"/>
              <a:pathLst>
                <a:path h="977976" w="5164112">
                  <a:moveTo>
                    <a:pt x="0" y="0"/>
                  </a:moveTo>
                  <a:lnTo>
                    <a:pt x="5164112" y="0"/>
                  </a:lnTo>
                  <a:lnTo>
                    <a:pt x="5164112" y="977976"/>
                  </a:lnTo>
                  <a:lnTo>
                    <a:pt x="0" y="977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0" r="0" b="-565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164112" cy="98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Предполагаемый пульс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5818" y="392801"/>
            <a:ext cx="769620" cy="769620"/>
            <a:chOff x="0" y="0"/>
            <a:chExt cx="1026160" cy="1026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98294" y="5320235"/>
            <a:ext cx="4981080" cy="3104407"/>
            <a:chOff x="0" y="0"/>
            <a:chExt cx="6641440" cy="41392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41465" cy="4139184"/>
            </a:xfrm>
            <a:custGeom>
              <a:avLst/>
              <a:gdLst/>
              <a:ahLst/>
              <a:cxnLst/>
              <a:rect r="r" b="b" t="t" l="l"/>
              <a:pathLst>
                <a:path h="4139184" w="6641465">
                  <a:moveTo>
                    <a:pt x="0" y="0"/>
                  </a:moveTo>
                  <a:lnTo>
                    <a:pt x="6641465" y="0"/>
                  </a:lnTo>
                  <a:lnTo>
                    <a:pt x="6641465" y="4139184"/>
                  </a:lnTo>
                  <a:lnTo>
                    <a:pt x="0" y="413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4635979" y="6271230"/>
            <a:ext cx="1864138" cy="1457058"/>
          </a:xfrm>
          <a:custGeom>
            <a:avLst/>
            <a:gdLst/>
            <a:ahLst/>
            <a:cxnLst/>
            <a:rect r="r" b="b" t="t" l="l"/>
            <a:pathLst>
              <a:path h="1457058" w="1864138">
                <a:moveTo>
                  <a:pt x="0" y="0"/>
                </a:moveTo>
                <a:lnTo>
                  <a:pt x="1864138" y="0"/>
                </a:lnTo>
                <a:lnTo>
                  <a:pt x="1864138" y="1457059"/>
                </a:lnTo>
                <a:lnTo>
                  <a:pt x="0" y="1457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925135" y="6271230"/>
            <a:ext cx="1864138" cy="1457058"/>
          </a:xfrm>
          <a:custGeom>
            <a:avLst/>
            <a:gdLst/>
            <a:ahLst/>
            <a:cxnLst/>
            <a:rect r="r" b="b" t="t" l="l"/>
            <a:pathLst>
              <a:path h="1457058" w="1864138">
                <a:moveTo>
                  <a:pt x="0" y="0"/>
                </a:moveTo>
                <a:lnTo>
                  <a:pt x="1864137" y="0"/>
                </a:lnTo>
                <a:lnTo>
                  <a:pt x="1864137" y="1457059"/>
                </a:lnTo>
                <a:lnTo>
                  <a:pt x="0" y="1457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70" t="0" r="-972" b="0"/>
              </a:stretch>
            </a:blip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12998294" y="5472336"/>
            <a:ext cx="5091413" cy="3054848"/>
          </a:xfrm>
          <a:custGeom>
            <a:avLst/>
            <a:gdLst/>
            <a:ahLst/>
            <a:cxnLst/>
            <a:rect r="r" b="b" t="t" l="l"/>
            <a:pathLst>
              <a:path h="3054848" w="5091413">
                <a:moveTo>
                  <a:pt x="0" y="0"/>
                </a:moveTo>
                <a:lnTo>
                  <a:pt x="5091412" y="0"/>
                </a:lnTo>
                <a:lnTo>
                  <a:pt x="5091412" y="3054847"/>
                </a:lnTo>
                <a:lnTo>
                  <a:pt x="0" y="30548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860977" y="5020790"/>
            <a:ext cx="3703298" cy="3703298"/>
          </a:xfrm>
          <a:custGeom>
            <a:avLst/>
            <a:gdLst/>
            <a:ahLst/>
            <a:cxnLst/>
            <a:rect r="r" b="b" t="t" l="l"/>
            <a:pathLst>
              <a:path h="3703298" w="3703298">
                <a:moveTo>
                  <a:pt x="0" y="0"/>
                </a:moveTo>
                <a:lnTo>
                  <a:pt x="3703298" y="0"/>
                </a:lnTo>
                <a:lnTo>
                  <a:pt x="3703298" y="3703298"/>
                </a:lnTo>
                <a:lnTo>
                  <a:pt x="0" y="37032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523364" y="594951"/>
            <a:ext cx="9040911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ПАЙПЛАЙН И МОЯ ЧАСТЬ В НЕМ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40383" y="556851"/>
            <a:ext cx="266386" cy="489290"/>
            <a:chOff x="0" y="0"/>
            <a:chExt cx="355181" cy="65238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" r="-199721" b="-1318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3" t="0" r="-53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788086" y="2807137"/>
            <a:ext cx="2587876" cy="733496"/>
            <a:chOff x="0" y="0"/>
            <a:chExt cx="3450501" cy="97799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50503" cy="977991"/>
            </a:xfrm>
            <a:custGeom>
              <a:avLst/>
              <a:gdLst/>
              <a:ahLst/>
              <a:cxnLst/>
              <a:rect r="r" b="b" t="t" l="l"/>
              <a:pathLst>
                <a:path h="977991" w="3450503">
                  <a:moveTo>
                    <a:pt x="0" y="0"/>
                  </a:moveTo>
                  <a:lnTo>
                    <a:pt x="3450503" y="0"/>
                  </a:lnTo>
                  <a:lnTo>
                    <a:pt x="3450503" y="977991"/>
                  </a:lnTo>
                  <a:lnTo>
                    <a:pt x="0" y="977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8" r="0" b="-2244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450501" cy="987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Спектральный анализ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500117" y="2789053"/>
            <a:ext cx="2587876" cy="751580"/>
            <a:chOff x="0" y="0"/>
            <a:chExt cx="3450501" cy="100210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50463" cy="1002043"/>
            </a:xfrm>
            <a:custGeom>
              <a:avLst/>
              <a:gdLst/>
              <a:ahLst/>
              <a:cxnLst/>
              <a:rect r="r" b="b" t="t" l="l"/>
              <a:pathLst>
                <a:path h="1002043" w="3450463">
                  <a:moveTo>
                    <a:pt x="0" y="0"/>
                  </a:moveTo>
                  <a:lnTo>
                    <a:pt x="3450463" y="0"/>
                  </a:lnTo>
                  <a:lnTo>
                    <a:pt x="3450463" y="1002043"/>
                  </a:lnTo>
                  <a:lnTo>
                    <a:pt x="0" y="1002043"/>
                  </a:lnTo>
                  <a:close/>
                </a:path>
              </a:pathLst>
            </a:custGeom>
            <a:solidFill>
              <a:srgbClr val="00509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500117" y="2909185"/>
            <a:ext cx="2587876" cy="529400"/>
            <a:chOff x="0" y="0"/>
            <a:chExt cx="3450501" cy="70586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50503" cy="705863"/>
            </a:xfrm>
            <a:custGeom>
              <a:avLst/>
              <a:gdLst/>
              <a:ahLst/>
              <a:cxnLst/>
              <a:rect r="r" b="b" t="t" l="l"/>
              <a:pathLst>
                <a:path h="705863" w="3450503">
                  <a:moveTo>
                    <a:pt x="0" y="0"/>
                  </a:moveTo>
                  <a:lnTo>
                    <a:pt x="3450503" y="0"/>
                  </a:lnTo>
                  <a:lnTo>
                    <a:pt x="3450503" y="705863"/>
                  </a:lnTo>
                  <a:lnTo>
                    <a:pt x="0" y="7058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0" r="0" b="-6964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450501" cy="7153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Извлечение пульсового сигнала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7770785" y="9289910"/>
            <a:ext cx="1765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93280">
            <a:off x="8520217" y="6054785"/>
            <a:ext cx="7338632" cy="0"/>
          </a:xfrm>
          <a:prstGeom prst="line">
            <a:avLst/>
          </a:prstGeom>
          <a:ln cap="rnd" w="9525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751760" y="2519433"/>
            <a:ext cx="8507540" cy="6738867"/>
          </a:xfrm>
          <a:custGeom>
            <a:avLst/>
            <a:gdLst/>
            <a:ahLst/>
            <a:cxnLst/>
            <a:rect r="r" b="b" t="t" l="l"/>
            <a:pathLst>
              <a:path h="6738867" w="8507540">
                <a:moveTo>
                  <a:pt x="0" y="0"/>
                </a:moveTo>
                <a:lnTo>
                  <a:pt x="8507540" y="0"/>
                </a:lnTo>
                <a:lnTo>
                  <a:pt x="8507540" y="6738867"/>
                </a:lnTo>
                <a:lnTo>
                  <a:pt x="0" y="6738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0933" y="2519433"/>
            <a:ext cx="7921829" cy="6033793"/>
          </a:xfrm>
          <a:custGeom>
            <a:avLst/>
            <a:gdLst/>
            <a:ahLst/>
            <a:cxnLst/>
            <a:rect r="r" b="b" t="t" l="l"/>
            <a:pathLst>
              <a:path h="6033793" w="7921829">
                <a:moveTo>
                  <a:pt x="0" y="0"/>
                </a:moveTo>
                <a:lnTo>
                  <a:pt x="7921829" y="0"/>
                </a:lnTo>
                <a:lnTo>
                  <a:pt x="7921829" y="6033793"/>
                </a:lnTo>
                <a:lnTo>
                  <a:pt x="0" y="6033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23978" y="383276"/>
            <a:ext cx="84341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ПОЧЕМУ ПУЛЬС ВИДЕН ЧЕРЕЗ КАМЕРУ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43408" y="1699339"/>
            <a:ext cx="3903233" cy="820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Молярный коэффициент поглощения гемоглобина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70" t="0" r="-9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-199721" b="-131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3" t="0" r="-53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770785" y="9289910"/>
            <a:ext cx="1765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10756" y="2937077"/>
            <a:ext cx="6125505" cy="1231934"/>
          </a:xfrm>
          <a:custGeom>
            <a:avLst/>
            <a:gdLst/>
            <a:ahLst/>
            <a:cxnLst/>
            <a:rect r="r" b="b" t="t" l="l"/>
            <a:pathLst>
              <a:path h="1231934" w="6125505">
                <a:moveTo>
                  <a:pt x="0" y="0"/>
                </a:moveTo>
                <a:lnTo>
                  <a:pt x="6125505" y="0"/>
                </a:lnTo>
                <a:lnTo>
                  <a:pt x="6125505" y="1231934"/>
                </a:lnTo>
                <a:lnTo>
                  <a:pt x="0" y="1231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348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79493" y="5143500"/>
            <a:ext cx="10588031" cy="2270269"/>
          </a:xfrm>
          <a:custGeom>
            <a:avLst/>
            <a:gdLst/>
            <a:ahLst/>
            <a:cxnLst/>
            <a:rect r="r" b="b" t="t" l="l"/>
            <a:pathLst>
              <a:path h="2270269" w="10588031">
                <a:moveTo>
                  <a:pt x="0" y="0"/>
                </a:moveTo>
                <a:lnTo>
                  <a:pt x="10588031" y="0"/>
                </a:lnTo>
                <a:lnTo>
                  <a:pt x="10588031" y="2270269"/>
                </a:lnTo>
                <a:lnTo>
                  <a:pt x="0" y="2270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403" r="0" b="-846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21796" y="4169011"/>
            <a:ext cx="8303425" cy="1180820"/>
          </a:xfrm>
          <a:custGeom>
            <a:avLst/>
            <a:gdLst/>
            <a:ahLst/>
            <a:cxnLst/>
            <a:rect r="r" b="b" t="t" l="l"/>
            <a:pathLst>
              <a:path h="1180820" w="8303425">
                <a:moveTo>
                  <a:pt x="0" y="0"/>
                </a:moveTo>
                <a:lnTo>
                  <a:pt x="8303425" y="0"/>
                </a:lnTo>
                <a:lnTo>
                  <a:pt x="8303425" y="1180820"/>
                </a:lnTo>
                <a:lnTo>
                  <a:pt x="0" y="1180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187" r="0" b="-3452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6775" y="383276"/>
            <a:ext cx="843412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ФИЗИЧЕСКАЯ МОДЕЛЬ СИГНАЛА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57640" y="1534421"/>
            <a:ext cx="11145466" cy="126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0"/>
              </a:lnSpc>
            </a:pPr>
            <a:r>
              <a:rPr lang="en-US" sz="71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Закон Бугера-Ламберта-Бера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70" t="0" r="-9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" r="-199721" b="-131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3" t="0" r="-53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770785" y="9289910"/>
            <a:ext cx="1765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68997" y="1028700"/>
            <a:ext cx="11630700" cy="1889989"/>
          </a:xfrm>
          <a:custGeom>
            <a:avLst/>
            <a:gdLst/>
            <a:ahLst/>
            <a:cxnLst/>
            <a:rect r="r" b="b" t="t" l="l"/>
            <a:pathLst>
              <a:path h="1889989" w="11630700">
                <a:moveTo>
                  <a:pt x="0" y="0"/>
                </a:moveTo>
                <a:lnTo>
                  <a:pt x="11630700" y="0"/>
                </a:lnTo>
                <a:lnTo>
                  <a:pt x="11630700" y="1889989"/>
                </a:lnTo>
                <a:lnTo>
                  <a:pt x="0" y="1889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76099" y="2378902"/>
            <a:ext cx="11723599" cy="3209335"/>
          </a:xfrm>
          <a:custGeom>
            <a:avLst/>
            <a:gdLst/>
            <a:ahLst/>
            <a:cxnLst/>
            <a:rect r="r" b="b" t="t" l="l"/>
            <a:pathLst>
              <a:path h="3209335" w="11723599">
                <a:moveTo>
                  <a:pt x="0" y="0"/>
                </a:moveTo>
                <a:lnTo>
                  <a:pt x="11723598" y="0"/>
                </a:lnTo>
                <a:lnTo>
                  <a:pt x="11723598" y="3209335"/>
                </a:lnTo>
                <a:lnTo>
                  <a:pt x="0" y="3209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9687" y="5750342"/>
            <a:ext cx="17288573" cy="1253422"/>
          </a:xfrm>
          <a:custGeom>
            <a:avLst/>
            <a:gdLst/>
            <a:ahLst/>
            <a:cxnLst/>
            <a:rect r="r" b="b" t="t" l="l"/>
            <a:pathLst>
              <a:path h="1253422" w="17288573">
                <a:moveTo>
                  <a:pt x="0" y="0"/>
                </a:moveTo>
                <a:lnTo>
                  <a:pt x="17288573" y="0"/>
                </a:lnTo>
                <a:lnTo>
                  <a:pt x="17288573" y="1253422"/>
                </a:lnTo>
                <a:lnTo>
                  <a:pt x="0" y="1253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4993" y="7003764"/>
            <a:ext cx="5629413" cy="1100487"/>
          </a:xfrm>
          <a:custGeom>
            <a:avLst/>
            <a:gdLst/>
            <a:ahLst/>
            <a:cxnLst/>
            <a:rect r="r" b="b" t="t" l="l"/>
            <a:pathLst>
              <a:path h="1100487" w="5629413">
                <a:moveTo>
                  <a:pt x="0" y="0"/>
                </a:moveTo>
                <a:lnTo>
                  <a:pt x="5629413" y="0"/>
                </a:lnTo>
                <a:lnTo>
                  <a:pt x="5629413" y="1100486"/>
                </a:lnTo>
                <a:lnTo>
                  <a:pt x="0" y="1100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3978" y="383276"/>
            <a:ext cx="843412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ФИЗИЧЕСКАЯ МОДЕЛЬ СИГНАЛА</a:t>
            </a:r>
          </a:p>
          <a:p>
            <a:pPr algn="l">
              <a:lnSpc>
                <a:spcPts val="287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70" t="0" r="-9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" r="-199721" b="-131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3" t="0" r="-53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770785" y="9289910"/>
            <a:ext cx="1765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09606" y="1028700"/>
            <a:ext cx="8512703" cy="1459760"/>
          </a:xfrm>
          <a:custGeom>
            <a:avLst/>
            <a:gdLst/>
            <a:ahLst/>
            <a:cxnLst/>
            <a:rect r="r" b="b" t="t" l="l"/>
            <a:pathLst>
              <a:path h="1459760" w="8512703">
                <a:moveTo>
                  <a:pt x="0" y="0"/>
                </a:moveTo>
                <a:lnTo>
                  <a:pt x="8512703" y="0"/>
                </a:lnTo>
                <a:lnTo>
                  <a:pt x="8512703" y="1459760"/>
                </a:lnTo>
                <a:lnTo>
                  <a:pt x="0" y="1459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1035" y="2488460"/>
            <a:ext cx="13765929" cy="1720741"/>
          </a:xfrm>
          <a:custGeom>
            <a:avLst/>
            <a:gdLst/>
            <a:ahLst/>
            <a:cxnLst/>
            <a:rect r="r" b="b" t="t" l="l"/>
            <a:pathLst>
              <a:path h="1720741" w="13765929">
                <a:moveTo>
                  <a:pt x="0" y="0"/>
                </a:moveTo>
                <a:lnTo>
                  <a:pt x="13765930" y="0"/>
                </a:lnTo>
                <a:lnTo>
                  <a:pt x="13765930" y="1720741"/>
                </a:lnTo>
                <a:lnTo>
                  <a:pt x="0" y="1720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32240" y="4238553"/>
            <a:ext cx="6823184" cy="835840"/>
          </a:xfrm>
          <a:custGeom>
            <a:avLst/>
            <a:gdLst/>
            <a:ahLst/>
            <a:cxnLst/>
            <a:rect r="r" b="b" t="t" l="l"/>
            <a:pathLst>
              <a:path h="835840" w="6823184">
                <a:moveTo>
                  <a:pt x="0" y="0"/>
                </a:moveTo>
                <a:lnTo>
                  <a:pt x="6823185" y="0"/>
                </a:lnTo>
                <a:lnTo>
                  <a:pt x="6823185" y="835840"/>
                </a:lnTo>
                <a:lnTo>
                  <a:pt x="0" y="835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40871" y="5103745"/>
            <a:ext cx="6600575" cy="1853876"/>
          </a:xfrm>
          <a:custGeom>
            <a:avLst/>
            <a:gdLst/>
            <a:ahLst/>
            <a:cxnLst/>
            <a:rect r="r" b="b" t="t" l="l"/>
            <a:pathLst>
              <a:path h="1853876" w="6600575">
                <a:moveTo>
                  <a:pt x="0" y="0"/>
                </a:moveTo>
                <a:lnTo>
                  <a:pt x="6600575" y="0"/>
                </a:lnTo>
                <a:lnTo>
                  <a:pt x="6600575" y="1853876"/>
                </a:lnTo>
                <a:lnTo>
                  <a:pt x="0" y="1853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992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70" t="0" r="-9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" r="-199721" b="-1318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760868" y="6986196"/>
            <a:ext cx="13765929" cy="1772363"/>
          </a:xfrm>
          <a:custGeom>
            <a:avLst/>
            <a:gdLst/>
            <a:ahLst/>
            <a:cxnLst/>
            <a:rect r="r" b="b" t="t" l="l"/>
            <a:pathLst>
              <a:path h="1772363" w="13765929">
                <a:moveTo>
                  <a:pt x="0" y="0"/>
                </a:moveTo>
                <a:lnTo>
                  <a:pt x="13765929" y="0"/>
                </a:lnTo>
                <a:lnTo>
                  <a:pt x="13765929" y="1772364"/>
                </a:lnTo>
                <a:lnTo>
                  <a:pt x="0" y="17723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23978" y="383276"/>
            <a:ext cx="84341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DSP, DFT, АЛГОРИТМ КУЛИ-ТЬЮКИ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3" t="0" r="-53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770785" y="9289910"/>
            <a:ext cx="1765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7257" y="3301303"/>
            <a:ext cx="17393487" cy="5718109"/>
          </a:xfrm>
          <a:custGeom>
            <a:avLst/>
            <a:gdLst/>
            <a:ahLst/>
            <a:cxnLst/>
            <a:rect r="r" b="b" t="t" l="l"/>
            <a:pathLst>
              <a:path h="5718109" w="17393487">
                <a:moveTo>
                  <a:pt x="0" y="0"/>
                </a:moveTo>
                <a:lnTo>
                  <a:pt x="17393486" y="0"/>
                </a:lnTo>
                <a:lnTo>
                  <a:pt x="17393486" y="5718108"/>
                </a:lnTo>
                <a:lnTo>
                  <a:pt x="0" y="5718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0" t="0" r="-97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-199721" b="-1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3" t="0" r="-53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936735" y="1541337"/>
            <a:ext cx="5842729" cy="1511508"/>
          </a:xfrm>
          <a:custGeom>
            <a:avLst/>
            <a:gdLst/>
            <a:ahLst/>
            <a:cxnLst/>
            <a:rect r="r" b="b" t="t" l="l"/>
            <a:pathLst>
              <a:path h="1511508" w="5842729">
                <a:moveTo>
                  <a:pt x="0" y="0"/>
                </a:moveTo>
                <a:lnTo>
                  <a:pt x="5842729" y="0"/>
                </a:lnTo>
                <a:lnTo>
                  <a:pt x="5842729" y="1511508"/>
                </a:lnTo>
                <a:lnTo>
                  <a:pt x="0" y="1511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459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23978" y="383276"/>
            <a:ext cx="84341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МЕТОД УЭЛЧА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70785" y="9289910"/>
            <a:ext cx="1765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3" t="0" r="-5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0" t="0" r="-97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-199721" b="-1318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11291" y="3515335"/>
            <a:ext cx="15065418" cy="5706027"/>
          </a:xfrm>
          <a:custGeom>
            <a:avLst/>
            <a:gdLst/>
            <a:ahLst/>
            <a:cxnLst/>
            <a:rect r="r" b="b" t="t" l="l"/>
            <a:pathLst>
              <a:path h="5706027" w="15065418">
                <a:moveTo>
                  <a:pt x="0" y="0"/>
                </a:moveTo>
                <a:lnTo>
                  <a:pt x="15065418" y="0"/>
                </a:lnTo>
                <a:lnTo>
                  <a:pt x="15065418" y="5706027"/>
                </a:lnTo>
                <a:lnTo>
                  <a:pt x="0" y="5706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17637" y="2239594"/>
            <a:ext cx="6590867" cy="1275741"/>
          </a:xfrm>
          <a:custGeom>
            <a:avLst/>
            <a:gdLst/>
            <a:ahLst/>
            <a:cxnLst/>
            <a:rect r="r" b="b" t="t" l="l"/>
            <a:pathLst>
              <a:path h="1275741" w="6590867">
                <a:moveTo>
                  <a:pt x="0" y="0"/>
                </a:moveTo>
                <a:lnTo>
                  <a:pt x="6590866" y="0"/>
                </a:lnTo>
                <a:lnTo>
                  <a:pt x="6590866" y="1275741"/>
                </a:lnTo>
                <a:lnTo>
                  <a:pt x="0" y="1275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651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15175" y="1451776"/>
            <a:ext cx="8311937" cy="964404"/>
          </a:xfrm>
          <a:custGeom>
            <a:avLst/>
            <a:gdLst/>
            <a:ahLst/>
            <a:cxnLst/>
            <a:rect r="r" b="b" t="t" l="l"/>
            <a:pathLst>
              <a:path h="964404" w="8311937">
                <a:moveTo>
                  <a:pt x="0" y="0"/>
                </a:moveTo>
                <a:lnTo>
                  <a:pt x="8311937" y="0"/>
                </a:lnTo>
                <a:lnTo>
                  <a:pt x="8311937" y="964404"/>
                </a:lnTo>
                <a:lnTo>
                  <a:pt x="0" y="9644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2933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23978" y="383276"/>
            <a:ext cx="84341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ПРОБЛЕМА КОНЕЧНОГО ОКНА, ОКНО ХАНА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70785" y="9289910"/>
            <a:ext cx="1765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63607" y="2555815"/>
            <a:ext cx="3070383" cy="62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2"/>
              </a:lnSpc>
            </a:pPr>
            <a:r>
              <a:rPr lang="en-US" sz="350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Окно Ханна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10275" y="3699186"/>
            <a:ext cx="3495649" cy="682657"/>
          </a:xfrm>
          <a:custGeom>
            <a:avLst/>
            <a:gdLst/>
            <a:ahLst/>
            <a:cxnLst/>
            <a:rect r="r" b="b" t="t" l="l"/>
            <a:pathLst>
              <a:path h="682657" w="3495649">
                <a:moveTo>
                  <a:pt x="0" y="0"/>
                </a:moveTo>
                <a:lnTo>
                  <a:pt x="3495649" y="0"/>
                </a:lnTo>
                <a:lnTo>
                  <a:pt x="3495649" y="682657"/>
                </a:lnTo>
                <a:lnTo>
                  <a:pt x="0" y="682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02" r="0" b="-2007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87557" y="5011659"/>
            <a:ext cx="7341084" cy="1240729"/>
          </a:xfrm>
          <a:custGeom>
            <a:avLst/>
            <a:gdLst/>
            <a:ahLst/>
            <a:cxnLst/>
            <a:rect r="r" b="b" t="t" l="l"/>
            <a:pathLst>
              <a:path h="1240729" w="7341084">
                <a:moveTo>
                  <a:pt x="0" y="0"/>
                </a:moveTo>
                <a:lnTo>
                  <a:pt x="7341084" y="0"/>
                </a:lnTo>
                <a:lnTo>
                  <a:pt x="7341084" y="1240729"/>
                </a:lnTo>
                <a:lnTo>
                  <a:pt x="0" y="1240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40" t="-9237" r="0" b="-204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62433" y="6306940"/>
            <a:ext cx="6001760" cy="1560592"/>
          </a:xfrm>
          <a:custGeom>
            <a:avLst/>
            <a:gdLst/>
            <a:ahLst/>
            <a:cxnLst/>
            <a:rect r="r" b="b" t="t" l="l"/>
            <a:pathLst>
              <a:path h="1560592" w="6001760">
                <a:moveTo>
                  <a:pt x="0" y="0"/>
                </a:moveTo>
                <a:lnTo>
                  <a:pt x="6001760" y="0"/>
                </a:lnTo>
                <a:lnTo>
                  <a:pt x="6001760" y="1560592"/>
                </a:lnTo>
                <a:lnTo>
                  <a:pt x="0" y="156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251" t="-17678" r="0" b="-1767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2433" y="7914721"/>
            <a:ext cx="6118244" cy="635467"/>
          </a:xfrm>
          <a:custGeom>
            <a:avLst/>
            <a:gdLst/>
            <a:ahLst/>
            <a:cxnLst/>
            <a:rect r="r" b="b" t="t" l="l"/>
            <a:pathLst>
              <a:path h="635467" w="6118244">
                <a:moveTo>
                  <a:pt x="0" y="0"/>
                </a:moveTo>
                <a:lnTo>
                  <a:pt x="6118244" y="0"/>
                </a:lnTo>
                <a:lnTo>
                  <a:pt x="6118244" y="635468"/>
                </a:lnTo>
                <a:lnTo>
                  <a:pt x="0" y="635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0433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33478" y="8676027"/>
            <a:ext cx="3216273" cy="545335"/>
          </a:xfrm>
          <a:custGeom>
            <a:avLst/>
            <a:gdLst/>
            <a:ahLst/>
            <a:cxnLst/>
            <a:rect r="r" b="b" t="t" l="l"/>
            <a:pathLst>
              <a:path h="545335" w="3216273">
                <a:moveTo>
                  <a:pt x="0" y="0"/>
                </a:moveTo>
                <a:lnTo>
                  <a:pt x="3216274" y="0"/>
                </a:lnTo>
                <a:lnTo>
                  <a:pt x="3216274" y="545335"/>
                </a:lnTo>
                <a:lnTo>
                  <a:pt x="0" y="5453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4726" r="0" b="-234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3" t="0" r="-5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70" t="0" r="-97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" r="-199721" b="-1318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626780" y="1738530"/>
            <a:ext cx="6229670" cy="994938"/>
          </a:xfrm>
          <a:custGeom>
            <a:avLst/>
            <a:gdLst/>
            <a:ahLst/>
            <a:cxnLst/>
            <a:rect r="r" b="b" t="t" l="l"/>
            <a:pathLst>
              <a:path h="994938" w="6229670">
                <a:moveTo>
                  <a:pt x="0" y="0"/>
                </a:moveTo>
                <a:lnTo>
                  <a:pt x="6229670" y="0"/>
                </a:lnTo>
                <a:lnTo>
                  <a:pt x="6229670" y="994938"/>
                </a:lnTo>
                <a:lnTo>
                  <a:pt x="0" y="9949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022261" y="2619168"/>
            <a:ext cx="4024432" cy="8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6"/>
              </a:lnSpc>
            </a:pPr>
            <a:r>
              <a:rPr lang="en-US" sz="477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Метод GREEN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46739" y="4219313"/>
            <a:ext cx="4273034" cy="169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7"/>
              </a:lnSpc>
            </a:pPr>
            <a:r>
              <a:rPr lang="en-US" sz="479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Метод CHROM</a:t>
            </a:r>
          </a:p>
          <a:p>
            <a:pPr algn="ctr">
              <a:lnSpc>
                <a:spcPts val="67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23978" y="383276"/>
            <a:ext cx="84341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АЛГОРИТМЫ ИЗВЛЕЧЕНИЯ  ПУЛЬСОВОГО СИГНАЛА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770785" y="9289910"/>
            <a:ext cx="1765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3" t="0" r="-5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0" t="0" r="-97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-199721" b="-1318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493371" y="3913732"/>
            <a:ext cx="11301259" cy="1313771"/>
          </a:xfrm>
          <a:custGeom>
            <a:avLst/>
            <a:gdLst/>
            <a:ahLst/>
            <a:cxnLst/>
            <a:rect r="r" b="b" t="t" l="l"/>
            <a:pathLst>
              <a:path h="1313771" w="11301259">
                <a:moveTo>
                  <a:pt x="0" y="0"/>
                </a:moveTo>
                <a:lnTo>
                  <a:pt x="11301258" y="0"/>
                </a:lnTo>
                <a:lnTo>
                  <a:pt x="11301258" y="1313772"/>
                </a:lnTo>
                <a:lnTo>
                  <a:pt x="0" y="13137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77325" y="5113443"/>
            <a:ext cx="9488487" cy="1686097"/>
          </a:xfrm>
          <a:custGeom>
            <a:avLst/>
            <a:gdLst/>
            <a:ahLst/>
            <a:cxnLst/>
            <a:rect r="r" b="b" t="t" l="l"/>
            <a:pathLst>
              <a:path h="1686097" w="9488487">
                <a:moveTo>
                  <a:pt x="0" y="0"/>
                </a:moveTo>
                <a:lnTo>
                  <a:pt x="9488487" y="0"/>
                </a:lnTo>
                <a:lnTo>
                  <a:pt x="9488487" y="1686097"/>
                </a:lnTo>
                <a:lnTo>
                  <a:pt x="0" y="1686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211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13788" y="2402262"/>
            <a:ext cx="4124212" cy="1872261"/>
          </a:xfrm>
          <a:custGeom>
            <a:avLst/>
            <a:gdLst/>
            <a:ahLst/>
            <a:cxnLst/>
            <a:rect r="r" b="b" t="t" l="l"/>
            <a:pathLst>
              <a:path h="1872261" w="4124212">
                <a:moveTo>
                  <a:pt x="0" y="0"/>
                </a:moveTo>
                <a:lnTo>
                  <a:pt x="4124213" y="0"/>
                </a:lnTo>
                <a:lnTo>
                  <a:pt x="4124213" y="1872262"/>
                </a:lnTo>
                <a:lnTo>
                  <a:pt x="0" y="1872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66646" y="1280406"/>
            <a:ext cx="3554707" cy="91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4"/>
              </a:lnSpc>
            </a:pPr>
            <a:r>
              <a:rPr lang="en-US" sz="5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Метод POS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3978" y="383276"/>
            <a:ext cx="84341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АЛГОРИТМЫ ИЗВЛЕЧЕНИЯ  ПУЛЬСОВОГО СИГНАЛА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82501" y="9289910"/>
            <a:ext cx="35313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3213" y="1806213"/>
            <a:ext cx="16961575" cy="8480787"/>
          </a:xfrm>
          <a:custGeom>
            <a:avLst/>
            <a:gdLst/>
            <a:ahLst/>
            <a:cxnLst/>
            <a:rect r="r" b="b" t="t" l="l"/>
            <a:pathLst>
              <a:path h="8480787" w="16961575">
                <a:moveTo>
                  <a:pt x="0" y="0"/>
                </a:moveTo>
                <a:lnTo>
                  <a:pt x="16961574" y="0"/>
                </a:lnTo>
                <a:lnTo>
                  <a:pt x="16961574" y="8480787"/>
                </a:lnTo>
                <a:lnTo>
                  <a:pt x="0" y="8480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" t="0" r="-5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23978" y="383276"/>
            <a:ext cx="84341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СРАВНЕНИЕ МЕТОДОВ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70" t="0" r="-9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-199721" b="-131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694288" y="9289910"/>
            <a:ext cx="32956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57600" y="1028700"/>
            <a:ext cx="10972800" cy="8229600"/>
          </a:xfrm>
          <a:custGeom>
            <a:avLst/>
            <a:gdLst/>
            <a:ahLst/>
            <a:cxnLst/>
            <a:rect r="r" b="b" t="t" l="l"/>
            <a:pathLst>
              <a:path h="8229600" w="10972800">
                <a:moveTo>
                  <a:pt x="0" y="0"/>
                </a:moveTo>
                <a:lnTo>
                  <a:pt x="10972800" y="0"/>
                </a:lnTo>
                <a:lnTo>
                  <a:pt x="109728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" t="0" r="-5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23978" y="383276"/>
            <a:ext cx="84341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СРАВНЕНИЕ МЕТОДОВ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70" t="0" r="-9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-199721" b="-131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682501" y="9289910"/>
            <a:ext cx="35313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46911" y="1347814"/>
            <a:ext cx="11394179" cy="7591372"/>
          </a:xfrm>
          <a:custGeom>
            <a:avLst/>
            <a:gdLst/>
            <a:ahLst/>
            <a:cxnLst/>
            <a:rect r="r" b="b" t="t" l="l"/>
            <a:pathLst>
              <a:path h="7591372" w="11394179">
                <a:moveTo>
                  <a:pt x="0" y="0"/>
                </a:moveTo>
                <a:lnTo>
                  <a:pt x="11394178" y="0"/>
                </a:lnTo>
                <a:lnTo>
                  <a:pt x="11394178" y="7591372"/>
                </a:lnTo>
                <a:lnTo>
                  <a:pt x="0" y="759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" t="0" r="-5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23978" y="383276"/>
            <a:ext cx="84341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СРАВНЕНИЕ МЕТОДОВ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70" t="0" r="-9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-199721" b="-131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682501" y="9289910"/>
            <a:ext cx="35313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818" y="9221362"/>
            <a:ext cx="817150" cy="500348"/>
            <a:chOff x="0" y="0"/>
            <a:chExt cx="1089533" cy="66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3" t="0" r="-5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12727" y="1423940"/>
            <a:ext cx="14878241" cy="7439121"/>
          </a:xfrm>
          <a:custGeom>
            <a:avLst/>
            <a:gdLst/>
            <a:ahLst/>
            <a:cxnLst/>
            <a:rect r="r" b="b" t="t" l="l"/>
            <a:pathLst>
              <a:path h="7439121" w="14878241">
                <a:moveTo>
                  <a:pt x="0" y="0"/>
                </a:moveTo>
                <a:lnTo>
                  <a:pt x="14878242" y="0"/>
                </a:lnTo>
                <a:lnTo>
                  <a:pt x="14878242" y="7439120"/>
                </a:lnTo>
                <a:lnTo>
                  <a:pt x="0" y="7439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23978" y="383276"/>
            <a:ext cx="84341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СРАВНЕНИЕ МЕТОДОВ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0697" y="169583"/>
            <a:ext cx="769620" cy="769620"/>
            <a:chOff x="0" y="0"/>
            <a:chExt cx="1026160" cy="1026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632423" y="169583"/>
            <a:ext cx="453295" cy="446437"/>
            <a:chOff x="0" y="0"/>
            <a:chExt cx="604393" cy="5952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70" t="0" r="-9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2314" y="329132"/>
            <a:ext cx="266386" cy="489290"/>
            <a:chOff x="0" y="0"/>
            <a:chExt cx="355181" cy="652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-199721" b="-131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682501" y="9289910"/>
            <a:ext cx="35313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5200650" y="-243773"/>
            <a:ext cx="1700212" cy="12101522"/>
            <a:chOff x="0" y="0"/>
            <a:chExt cx="2266950" cy="161353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6950" cy="16135350"/>
            </a:xfrm>
            <a:custGeom>
              <a:avLst/>
              <a:gdLst/>
              <a:ahLst/>
              <a:cxnLst/>
              <a:rect r="r" b="b" t="t" l="l"/>
              <a:pathLst>
                <a:path h="16135350" w="2266950">
                  <a:moveTo>
                    <a:pt x="0" y="0"/>
                  </a:moveTo>
                  <a:lnTo>
                    <a:pt x="2266950" y="0"/>
                  </a:lnTo>
                  <a:lnTo>
                    <a:pt x="2266950" y="16135350"/>
                  </a:lnTo>
                  <a:lnTo>
                    <a:pt x="0" y="16135350"/>
                  </a:lnTo>
                  <a:close/>
                </a:path>
              </a:pathLst>
            </a:custGeom>
            <a:solidFill>
              <a:srgbClr val="023A8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98118" y="5338877"/>
            <a:ext cx="12912223" cy="87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СПАСИБО ЗА ВНИМАНИЕ!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476153" y="4956877"/>
            <a:ext cx="2037502" cy="1264987"/>
            <a:chOff x="0" y="0"/>
            <a:chExt cx="2716670" cy="16866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16657" cy="1686687"/>
            </a:xfrm>
            <a:custGeom>
              <a:avLst/>
              <a:gdLst/>
              <a:ahLst/>
              <a:cxnLst/>
              <a:rect r="r" b="b" t="t" l="l"/>
              <a:pathLst>
                <a:path h="1686687" w="2716657">
                  <a:moveTo>
                    <a:pt x="0" y="0"/>
                  </a:moveTo>
                  <a:lnTo>
                    <a:pt x="2716657" y="0"/>
                  </a:lnTo>
                  <a:lnTo>
                    <a:pt x="2716657" y="1686687"/>
                  </a:lnTo>
                  <a:lnTo>
                    <a:pt x="0" y="168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DAHKlX8P11o</dc:identifier>
  <dcterms:modified xsi:type="dcterms:W3CDTF">2011-08-01T06:04:30Z</dcterms:modified>
  <cp:revision>1</cp:revision>
  <dc:title>Pyrkov</dc:title>
</cp:coreProperties>
</file>